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83" r:id="rId2"/>
    <p:sldId id="291" r:id="rId3"/>
    <p:sldId id="292" r:id="rId4"/>
    <p:sldId id="294" r:id="rId5"/>
    <p:sldId id="293" r:id="rId6"/>
    <p:sldId id="290" r:id="rId7"/>
    <p:sldId id="284" r:id="rId8"/>
    <p:sldId id="285" r:id="rId9"/>
    <p:sldId id="286" r:id="rId10"/>
    <p:sldId id="287" r:id="rId11"/>
    <p:sldId id="288" r:id="rId12"/>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2" d="100"/>
          <a:sy n="92" d="100"/>
        </p:scale>
        <p:origin x="1548"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286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286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86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86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286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4D6B04F3-6C67-499D-AFA7-A9B7F7F82FE5}" type="slidenum">
              <a:rPr lang="en-US" altLang="zh-CN"/>
              <a:pPr/>
              <a:t>‹#›</a:t>
            </a:fld>
            <a:endParaRPr lang="en-US" altLang="zh-CN"/>
          </a:p>
        </p:txBody>
      </p:sp>
    </p:spTree>
    <p:extLst>
      <p:ext uri="{BB962C8B-B14F-4D97-AF65-F5344CB8AC3E}">
        <p14:creationId xmlns:p14="http://schemas.microsoft.com/office/powerpoint/2010/main" val="109356004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宋体" pitchFamily="2" charset="-122"/>
        <a:cs typeface="+mn-cs"/>
      </a:defRPr>
    </a:lvl1pPr>
    <a:lvl2pPr marL="457200" algn="l" rtl="0" fontAlgn="base">
      <a:spcBef>
        <a:spcPct val="30000"/>
      </a:spcBef>
      <a:spcAft>
        <a:spcPct val="0"/>
      </a:spcAft>
      <a:defRPr sz="1200" kern="1200">
        <a:solidFill>
          <a:schemeClr val="tx1"/>
        </a:solidFill>
        <a:latin typeface="Arial" charset="0"/>
        <a:ea typeface="宋体" pitchFamily="2" charset="-122"/>
        <a:cs typeface="+mn-cs"/>
      </a:defRPr>
    </a:lvl2pPr>
    <a:lvl3pPr marL="914400" algn="l" rtl="0" fontAlgn="base">
      <a:spcBef>
        <a:spcPct val="30000"/>
      </a:spcBef>
      <a:spcAft>
        <a:spcPct val="0"/>
      </a:spcAft>
      <a:defRPr sz="1200" kern="1200">
        <a:solidFill>
          <a:schemeClr val="tx1"/>
        </a:solidFill>
        <a:latin typeface="Arial" charset="0"/>
        <a:ea typeface="宋体" pitchFamily="2" charset="-122"/>
        <a:cs typeface="+mn-cs"/>
      </a:defRPr>
    </a:lvl3pPr>
    <a:lvl4pPr marL="1371600" algn="l" rtl="0" fontAlgn="base">
      <a:spcBef>
        <a:spcPct val="30000"/>
      </a:spcBef>
      <a:spcAft>
        <a:spcPct val="0"/>
      </a:spcAft>
      <a:defRPr sz="1200" kern="1200">
        <a:solidFill>
          <a:schemeClr val="tx1"/>
        </a:solidFill>
        <a:latin typeface="Arial" charset="0"/>
        <a:ea typeface="宋体" pitchFamily="2" charset="-122"/>
        <a:cs typeface="+mn-cs"/>
      </a:defRPr>
    </a:lvl4pPr>
    <a:lvl5pPr marL="1828800" algn="l" rtl="0" fontAlgn="base">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6F77496-784F-4C02-BD9F-871F2A947B94}" type="slidenum">
              <a:rPr lang="en-US" altLang="zh-CN"/>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2F94A800-DD10-4586-96F6-8816652E7436}" type="slidenum">
              <a:rPr lang="en-US" altLang="zh-CN"/>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F406BD6C-C197-41E3-B873-B15BAA0FD92F}" type="slidenum">
              <a:rPr lang="en-US" altLang="zh-CN"/>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3BC91389-9E9D-493F-B85D-92B6D2C8DE73}" type="slidenum">
              <a:rPr lang="en-US" altLang="zh-CN"/>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E5EAFFC1-BACB-4CD6-B2D4-9E3AAB0A6B8F}" type="slidenum">
              <a:rPr lang="en-US" altLang="zh-CN"/>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8A386EA3-34F9-4977-A339-9EC4C5A9FE78}" type="slidenum">
              <a:rPr lang="en-US" altLang="zh-CN"/>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84B778FD-F548-4BE4-9926-DEF422E59083}" type="slidenum">
              <a:rPr lang="en-US" altLang="zh-CN"/>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14AF2FC3-CBDA-476C-9170-827E113C248E}" type="slidenum">
              <a:rPr lang="en-US" altLang="zh-CN"/>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88719760-A5EB-4CE6-B22D-3BB00B80A87A}" type="slidenum">
              <a:rPr lang="en-US" altLang="zh-CN"/>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DE7D3C3-C4DF-4731-B060-0E2ADB75EDBE}" type="slidenum">
              <a:rPr lang="en-US" altLang="zh-CN"/>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1D21151-00F4-4F9C-AB21-672C45311059}" type="slidenum">
              <a:rPr lang="en-US" altLang="zh-CN"/>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A105C588-9461-4815-980F-E5485A7FFF42}"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ea typeface="宋体" pitchFamily="2" charset="-122"/>
        </a:defRPr>
      </a:lvl2pPr>
      <a:lvl3pPr algn="ctr" rtl="0" fontAlgn="base">
        <a:spcBef>
          <a:spcPct val="0"/>
        </a:spcBef>
        <a:spcAft>
          <a:spcPct val="0"/>
        </a:spcAft>
        <a:defRPr sz="4400">
          <a:solidFill>
            <a:schemeClr val="tx2"/>
          </a:solidFill>
          <a:latin typeface="Arial" charset="0"/>
          <a:ea typeface="宋体" pitchFamily="2" charset="-122"/>
        </a:defRPr>
      </a:lvl3pPr>
      <a:lvl4pPr algn="ctr" rtl="0" fontAlgn="base">
        <a:spcBef>
          <a:spcPct val="0"/>
        </a:spcBef>
        <a:spcAft>
          <a:spcPct val="0"/>
        </a:spcAft>
        <a:defRPr sz="4400">
          <a:solidFill>
            <a:schemeClr val="tx2"/>
          </a:solidFill>
          <a:latin typeface="Arial" charset="0"/>
          <a:ea typeface="宋体" pitchFamily="2" charset="-122"/>
        </a:defRPr>
      </a:lvl4pPr>
      <a:lvl5pPr algn="ctr" rtl="0" fontAlgn="base">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第</a:t>
            </a:r>
            <a:r>
              <a:rPr lang="en-US" altLang="zh-CN" dirty="0"/>
              <a:t>8</a:t>
            </a:r>
            <a:r>
              <a:rPr lang="zh-CN" altLang="en-US" dirty="0"/>
              <a:t>章 </a:t>
            </a:r>
          </a:p>
        </p:txBody>
      </p:sp>
      <p:sp>
        <p:nvSpPr>
          <p:cNvPr id="3" name="内容占位符 2"/>
          <p:cNvSpPr>
            <a:spLocks noGrp="1"/>
          </p:cNvSpPr>
          <p:nvPr>
            <p:ph idx="1"/>
          </p:nvPr>
        </p:nvSpPr>
        <p:spPr>
          <a:xfrm>
            <a:off x="381000" y="1295400"/>
            <a:ext cx="8229600" cy="5334000"/>
          </a:xfrm>
        </p:spPr>
        <p:txBody>
          <a:bodyPr/>
          <a:lstStyle/>
          <a:p>
            <a:pPr marL="0" indent="0">
              <a:buNone/>
            </a:pPr>
            <a:r>
              <a:rPr lang="en-US" altLang="zh-CN" sz="2400" dirty="0"/>
              <a:t>1. </a:t>
            </a:r>
            <a:r>
              <a:rPr lang="zh-CN" altLang="en-US" sz="2400" dirty="0"/>
              <a:t>分别描述利用第</a:t>
            </a:r>
            <a:r>
              <a:rPr lang="en-US" altLang="zh-CN" sz="2400" dirty="0"/>
              <a:t>6</a:t>
            </a:r>
            <a:r>
              <a:rPr lang="zh-CN" altLang="en-US" sz="2400" dirty="0"/>
              <a:t>版教材第</a:t>
            </a:r>
            <a:r>
              <a:rPr lang="en-US" altLang="zh-CN" sz="2400" dirty="0"/>
              <a:t>9</a:t>
            </a:r>
            <a:r>
              <a:rPr lang="zh-CN" altLang="en-US" sz="2400" dirty="0"/>
              <a:t>章的图</a:t>
            </a:r>
            <a:r>
              <a:rPr lang="en-US" altLang="zh-CN" sz="2400" dirty="0"/>
              <a:t>9.12</a:t>
            </a:r>
            <a:r>
              <a:rPr lang="zh-CN" altLang="en-US" sz="2400" dirty="0"/>
              <a:t>的稠密索引、图</a:t>
            </a:r>
            <a:r>
              <a:rPr lang="en-US" altLang="zh-CN" sz="2400" dirty="0"/>
              <a:t>9.13</a:t>
            </a:r>
            <a:r>
              <a:rPr lang="zh-CN" altLang="en-US" sz="2400" dirty="0"/>
              <a:t>的稀疏索引、图</a:t>
            </a:r>
            <a:r>
              <a:rPr lang="en-US" altLang="zh-CN" sz="2400" dirty="0"/>
              <a:t>9.14</a:t>
            </a:r>
            <a:r>
              <a:rPr lang="zh-CN" altLang="en-US" sz="2400" dirty="0"/>
              <a:t>的多级索引是如何对</a:t>
            </a:r>
            <a:r>
              <a:rPr lang="en-US" altLang="zh-CN" sz="2400" dirty="0"/>
              <a:t>student</a:t>
            </a:r>
            <a:r>
              <a:rPr lang="zh-CN" altLang="en-US" sz="2400" dirty="0"/>
              <a:t>表进行如下查询的：</a:t>
            </a:r>
          </a:p>
          <a:p>
            <a:pPr marL="0" indent="0">
              <a:buNone/>
            </a:pPr>
            <a:r>
              <a:rPr lang="zh-CN" altLang="en-US" sz="2400" dirty="0"/>
              <a:t>（</a:t>
            </a:r>
            <a:r>
              <a:rPr lang="en-US" altLang="zh-CN" sz="2400" dirty="0"/>
              <a:t>1</a:t>
            </a:r>
            <a:r>
              <a:rPr lang="zh-CN" altLang="en-US" sz="2400" dirty="0"/>
              <a:t>）查询学号为</a:t>
            </a:r>
            <a:r>
              <a:rPr lang="en-US" altLang="zh-CN" sz="2400" dirty="0"/>
              <a:t>20180014</a:t>
            </a:r>
            <a:r>
              <a:rPr lang="zh-CN" altLang="en-US" sz="2400" dirty="0"/>
              <a:t>的记录。</a:t>
            </a:r>
          </a:p>
          <a:p>
            <a:pPr marL="0" indent="0">
              <a:buNone/>
            </a:pPr>
            <a:r>
              <a:rPr lang="zh-CN" altLang="en-US" sz="2400" dirty="0"/>
              <a:t>（</a:t>
            </a:r>
            <a:r>
              <a:rPr lang="en-US" altLang="zh-CN" sz="2400" dirty="0"/>
              <a:t>2</a:t>
            </a:r>
            <a:r>
              <a:rPr lang="zh-CN" altLang="en-US" sz="2400" dirty="0"/>
              <a:t>）查询学号大于</a:t>
            </a:r>
            <a:r>
              <a:rPr lang="en-US" altLang="zh-CN" sz="2400" dirty="0"/>
              <a:t>20180009</a:t>
            </a:r>
            <a:r>
              <a:rPr lang="zh-CN" altLang="en-US" sz="2400" dirty="0"/>
              <a:t>的记录。</a:t>
            </a:r>
          </a:p>
          <a:p>
            <a:pPr marL="0" indent="0">
              <a:buNone/>
            </a:pPr>
            <a:endParaRPr lang="en-US" altLang="zh-CN" sz="2400" b="1" dirty="0">
              <a:latin typeface="黑体" panose="02010609060101010101" pitchFamily="49" charset="-122"/>
              <a:ea typeface="黑体" panose="02010609060101010101" pitchFamily="49" charset="-122"/>
            </a:endParaRPr>
          </a:p>
          <a:p>
            <a:pPr marL="0" indent="0">
              <a:buNone/>
            </a:pPr>
            <a:r>
              <a:rPr lang="zh-CN" altLang="en-US" sz="2400" b="1" dirty="0">
                <a:latin typeface="黑体" panose="02010609060101010101" pitchFamily="49" charset="-122"/>
                <a:ea typeface="黑体" panose="02010609060101010101" pitchFamily="49" charset="-122"/>
              </a:rPr>
              <a:t>答：</a:t>
            </a:r>
            <a:r>
              <a:rPr lang="zh-CN" altLang="en-US" sz="2400" dirty="0"/>
              <a:t>（</a:t>
            </a:r>
            <a:r>
              <a:rPr lang="en-US" altLang="zh-CN" sz="2400" dirty="0"/>
              <a:t>1</a:t>
            </a:r>
            <a:r>
              <a:rPr lang="zh-CN" altLang="en-US" sz="2400" dirty="0"/>
              <a:t>）图</a:t>
            </a:r>
            <a:r>
              <a:rPr lang="en-US" altLang="zh-CN" sz="2400" dirty="0"/>
              <a:t>9.12</a:t>
            </a:r>
            <a:r>
              <a:rPr lang="zh-CN" altLang="en-US" sz="2400" dirty="0"/>
              <a:t>的稠密索引中：</a:t>
            </a:r>
            <a:endParaRPr lang="en-US" altLang="zh-CN" sz="2400" dirty="0"/>
          </a:p>
          <a:p>
            <a:pPr marL="0" indent="0">
              <a:buNone/>
            </a:pPr>
            <a:r>
              <a:rPr lang="zh-CN" altLang="en-US" sz="2400" dirty="0">
                <a:latin typeface="宋体" panose="02010600030101010101" pitchFamily="2" charset="-122"/>
                <a:ea typeface="宋体" panose="02010600030101010101" pitchFamily="2" charset="-122"/>
              </a:rPr>
              <a:t>①</a:t>
            </a:r>
            <a:r>
              <a:rPr lang="zh-CN" altLang="en-US" sz="2400" dirty="0"/>
              <a:t>先按照索引的排列顺序查找</a:t>
            </a:r>
            <a:r>
              <a:rPr lang="en-US" altLang="zh-CN" sz="2400" dirty="0"/>
              <a:t>sno</a:t>
            </a:r>
            <a:r>
              <a:rPr lang="zh-CN" altLang="en-US" sz="2400" dirty="0"/>
              <a:t>属性上的索引块列表（可以遍历或者用二分查找等快速查找算法），索引中会有每个学号的索引项，找到</a:t>
            </a:r>
            <a:r>
              <a:rPr lang="en-US" altLang="zh-CN" sz="2400" dirty="0"/>
              <a:t>20180014</a:t>
            </a:r>
            <a:r>
              <a:rPr lang="zh-CN" altLang="en-US" sz="2400" dirty="0"/>
              <a:t>学号的索引项（若找不到索引项则表示该学号记录不存在）；</a:t>
            </a:r>
            <a:r>
              <a:rPr lang="zh-CN" altLang="en-US" sz="2400" dirty="0">
                <a:latin typeface="宋体" panose="02010600030101010101" pitchFamily="2" charset="-122"/>
                <a:ea typeface="宋体" panose="02010600030101010101" pitchFamily="2" charset="-122"/>
              </a:rPr>
              <a:t> </a:t>
            </a:r>
            <a:endParaRPr lang="en-US" altLang="zh-CN" sz="2400" dirty="0">
              <a:latin typeface="宋体" panose="02010600030101010101" pitchFamily="2" charset="-122"/>
              <a:ea typeface="宋体" panose="02010600030101010101" pitchFamily="2" charset="-122"/>
            </a:endParaRPr>
          </a:p>
          <a:p>
            <a:pPr marL="0" indent="0">
              <a:buNone/>
            </a:pPr>
            <a:r>
              <a:rPr lang="zh-CN" altLang="en-US" sz="2400" dirty="0">
                <a:latin typeface="宋体" panose="02010600030101010101" pitchFamily="2" charset="-122"/>
                <a:ea typeface="宋体" panose="02010600030101010101" pitchFamily="2" charset="-122"/>
              </a:rPr>
              <a:t>②</a:t>
            </a:r>
            <a:r>
              <a:rPr lang="zh-CN" altLang="en-US" sz="2400" dirty="0"/>
              <a:t>依据索引记录中的元组指针访问元组信息。</a:t>
            </a:r>
            <a:endParaRPr lang="en-US" altLang="zh-CN" sz="2400" dirty="0"/>
          </a:p>
        </p:txBody>
      </p:sp>
      <p:sp>
        <p:nvSpPr>
          <p:cNvPr id="4" name="灯片编号占位符 3"/>
          <p:cNvSpPr>
            <a:spLocks noGrp="1"/>
          </p:cNvSpPr>
          <p:nvPr>
            <p:ph type="sldNum" sz="quarter" idx="12"/>
          </p:nvPr>
        </p:nvSpPr>
        <p:spPr/>
        <p:txBody>
          <a:bodyPr/>
          <a:lstStyle/>
          <a:p>
            <a:fld id="{2F94A800-DD10-4586-96F6-8816652E7436}" type="slidenum">
              <a:rPr lang="en-US" altLang="zh-CN" smtClean="0"/>
              <a:pPr/>
              <a:t>1</a:t>
            </a:fld>
            <a:endParaRPr lang="en-US" altLang="zh-CN"/>
          </a:p>
        </p:txBody>
      </p:sp>
    </p:spTree>
    <p:extLst>
      <p:ext uri="{BB962C8B-B14F-4D97-AF65-F5344CB8AC3E}">
        <p14:creationId xmlns:p14="http://schemas.microsoft.com/office/powerpoint/2010/main" val="4213680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第</a:t>
            </a:r>
            <a:r>
              <a:rPr lang="en-US" altLang="zh-CN" dirty="0"/>
              <a:t>8</a:t>
            </a:r>
            <a:r>
              <a:rPr lang="zh-CN" altLang="en-US" dirty="0"/>
              <a:t>章 </a:t>
            </a:r>
          </a:p>
        </p:txBody>
      </p:sp>
      <p:sp>
        <p:nvSpPr>
          <p:cNvPr id="3" name="内容占位符 2"/>
          <p:cNvSpPr>
            <a:spLocks noGrp="1"/>
          </p:cNvSpPr>
          <p:nvPr>
            <p:ph idx="1"/>
          </p:nvPr>
        </p:nvSpPr>
        <p:spPr>
          <a:xfrm>
            <a:off x="381000" y="1295400"/>
            <a:ext cx="8229600" cy="5334000"/>
          </a:xfrm>
        </p:spPr>
        <p:txBody>
          <a:bodyPr/>
          <a:lstStyle/>
          <a:p>
            <a:pPr marL="0" indent="0">
              <a:buNone/>
            </a:pPr>
            <a:r>
              <a:rPr lang="en-US" altLang="zh-CN" sz="2400" dirty="0"/>
              <a:t>1. </a:t>
            </a:r>
            <a:r>
              <a:rPr lang="zh-CN" altLang="en-US" sz="2400" b="1" dirty="0">
                <a:latin typeface="黑体" panose="02010609060101010101" pitchFamily="49" charset="-122"/>
                <a:ea typeface="黑体" panose="02010609060101010101" pitchFamily="49" charset="-122"/>
              </a:rPr>
              <a:t>答：</a:t>
            </a:r>
            <a:r>
              <a:rPr lang="zh-CN" altLang="en-US" sz="2400" dirty="0"/>
              <a:t>（</a:t>
            </a:r>
            <a:r>
              <a:rPr lang="en-US" altLang="zh-CN" sz="2400" dirty="0"/>
              <a:t>1</a:t>
            </a:r>
            <a:r>
              <a:rPr lang="zh-CN" altLang="en-US" sz="2400" dirty="0"/>
              <a:t>续）    图</a:t>
            </a:r>
            <a:r>
              <a:rPr lang="en-US" altLang="zh-CN" sz="2400" dirty="0"/>
              <a:t>9.13</a:t>
            </a:r>
            <a:r>
              <a:rPr lang="zh-CN" altLang="en-US" sz="2400" dirty="0"/>
              <a:t>的稀疏索引中：</a:t>
            </a:r>
            <a:r>
              <a:rPr lang="zh-CN" altLang="en-US" sz="2400" dirty="0">
                <a:latin typeface="宋体" panose="02010600030101010101" pitchFamily="2" charset="-122"/>
                <a:ea typeface="宋体" panose="02010600030101010101" pitchFamily="2" charset="-122"/>
              </a:rPr>
              <a:t> </a:t>
            </a:r>
            <a:endParaRPr lang="en-US" altLang="zh-CN" sz="2400" dirty="0">
              <a:latin typeface="宋体" panose="02010600030101010101" pitchFamily="2" charset="-122"/>
              <a:ea typeface="宋体" panose="02010600030101010101" pitchFamily="2" charset="-122"/>
            </a:endParaRPr>
          </a:p>
          <a:p>
            <a:pPr marL="0" indent="0">
              <a:buNone/>
            </a:pPr>
            <a:r>
              <a:rPr lang="zh-CN" altLang="en-US" sz="2400" dirty="0">
                <a:latin typeface="宋体" panose="02010600030101010101" pitchFamily="2" charset="-122"/>
                <a:ea typeface="宋体" panose="02010600030101010101" pitchFamily="2" charset="-122"/>
              </a:rPr>
              <a:t>①</a:t>
            </a:r>
            <a:r>
              <a:rPr lang="zh-CN" altLang="en-US" sz="2400" dirty="0"/>
              <a:t>先按照索引的排列顺序（图中按照</a:t>
            </a:r>
            <a:r>
              <a:rPr lang="en-US" altLang="zh-CN" sz="2400" dirty="0"/>
              <a:t>sno</a:t>
            </a:r>
            <a:r>
              <a:rPr lang="zh-CN" altLang="en-US" sz="2400" dirty="0"/>
              <a:t>属性升序排列）用顺序或者二分查找方法搜索</a:t>
            </a:r>
            <a:r>
              <a:rPr lang="en-US" altLang="zh-CN" sz="2400" dirty="0"/>
              <a:t>sno</a:t>
            </a:r>
            <a:r>
              <a:rPr lang="zh-CN" altLang="en-US" sz="2400" dirty="0"/>
              <a:t>属性上的索引块列表，找到属性值小于或者等于</a:t>
            </a:r>
            <a:r>
              <a:rPr lang="en-US" altLang="zh-CN" sz="2400" dirty="0"/>
              <a:t>20180014</a:t>
            </a:r>
            <a:r>
              <a:rPr lang="zh-CN" altLang="en-US" sz="2400" dirty="0"/>
              <a:t>的最大索引项；</a:t>
            </a:r>
            <a:endParaRPr lang="en-US" altLang="zh-CN" sz="2400" dirty="0"/>
          </a:p>
          <a:p>
            <a:pPr marL="0" indent="0">
              <a:buNone/>
            </a:pPr>
            <a:r>
              <a:rPr lang="zh-CN" altLang="en-US" sz="2400" dirty="0">
                <a:latin typeface="宋体" panose="02010600030101010101" pitchFamily="2" charset="-122"/>
                <a:ea typeface="宋体" panose="02010600030101010101" pitchFamily="2" charset="-122"/>
              </a:rPr>
              <a:t>②</a:t>
            </a:r>
            <a:r>
              <a:rPr lang="zh-CN" altLang="en-US" sz="2400" dirty="0"/>
              <a:t>然后依据该索引项的指针找到其数据块，遍历该块内部的元组，直至找到</a:t>
            </a:r>
            <a:r>
              <a:rPr lang="en-US" altLang="zh-CN" sz="2400" dirty="0"/>
              <a:t>20180014</a:t>
            </a:r>
            <a:r>
              <a:rPr lang="zh-CN" altLang="en-US" sz="2400" dirty="0"/>
              <a:t>元组，若该块内找不到</a:t>
            </a:r>
            <a:r>
              <a:rPr lang="en-US" altLang="zh-CN" sz="2400" dirty="0"/>
              <a:t>20180014</a:t>
            </a:r>
            <a:r>
              <a:rPr lang="zh-CN" altLang="en-US" sz="2400" dirty="0"/>
              <a:t>则表示该元组不存在。</a:t>
            </a:r>
            <a:endParaRPr lang="en-US" altLang="zh-CN" sz="2400" dirty="0"/>
          </a:p>
          <a:p>
            <a:pPr marL="0" indent="0">
              <a:buNone/>
            </a:pPr>
            <a:endParaRPr lang="en-US" altLang="zh-CN" sz="2400" dirty="0"/>
          </a:p>
          <a:p>
            <a:pPr marL="0" indent="0">
              <a:buNone/>
            </a:pPr>
            <a:r>
              <a:rPr lang="zh-CN" altLang="en-US" sz="2400" dirty="0"/>
              <a:t>图</a:t>
            </a:r>
            <a:r>
              <a:rPr lang="en-US" altLang="zh-CN" sz="2400" dirty="0"/>
              <a:t>9.14</a:t>
            </a:r>
            <a:r>
              <a:rPr lang="zh-CN" altLang="en-US" sz="2400" dirty="0"/>
              <a:t>的多级索引中：</a:t>
            </a:r>
            <a:r>
              <a:rPr lang="zh-CN" altLang="en-US" sz="2400" dirty="0">
                <a:latin typeface="宋体" panose="02010600030101010101" pitchFamily="2" charset="-122"/>
                <a:ea typeface="宋体" panose="02010600030101010101" pitchFamily="2" charset="-122"/>
              </a:rPr>
              <a:t> ①</a:t>
            </a:r>
            <a:r>
              <a:rPr lang="zh-CN" altLang="en-US" sz="2400" dirty="0"/>
              <a:t>按照图</a:t>
            </a:r>
            <a:r>
              <a:rPr lang="en-US" altLang="zh-CN" sz="2400" dirty="0"/>
              <a:t>9.13</a:t>
            </a:r>
            <a:r>
              <a:rPr lang="zh-CN" altLang="en-US" sz="2400" dirty="0"/>
              <a:t>的稀疏索引的查找过程从高层索引开始逐层向下搜索下一层该搜索的索引块，直至最底层的目标索引块。</a:t>
            </a:r>
            <a:endParaRPr lang="en-US" altLang="zh-CN" sz="2400" dirty="0"/>
          </a:p>
          <a:p>
            <a:pPr marL="0" indent="0">
              <a:buNone/>
            </a:pPr>
            <a:r>
              <a:rPr lang="zh-CN" altLang="en-US" sz="2400" dirty="0">
                <a:latin typeface="宋体" panose="02010600030101010101" pitchFamily="2" charset="-122"/>
                <a:ea typeface="宋体" panose="02010600030101010101" pitchFamily="2" charset="-122"/>
              </a:rPr>
              <a:t>②</a:t>
            </a:r>
            <a:r>
              <a:rPr lang="zh-CN" altLang="en-US" sz="2400" dirty="0"/>
              <a:t>图中最底层是稠密索引，则直接查找该索引块中的</a:t>
            </a:r>
            <a:r>
              <a:rPr lang="en-US" altLang="zh-CN" sz="2400" dirty="0"/>
              <a:t>20180014</a:t>
            </a:r>
            <a:r>
              <a:rPr lang="zh-CN" altLang="en-US" sz="2400" dirty="0"/>
              <a:t>的索引项，再依据其元组记录指针读取元组。</a:t>
            </a:r>
            <a:endParaRPr lang="en-US" altLang="zh-CN" sz="2400" dirty="0"/>
          </a:p>
        </p:txBody>
      </p:sp>
      <p:sp>
        <p:nvSpPr>
          <p:cNvPr id="4" name="灯片编号占位符 3"/>
          <p:cNvSpPr>
            <a:spLocks noGrp="1"/>
          </p:cNvSpPr>
          <p:nvPr>
            <p:ph type="sldNum" sz="quarter" idx="12"/>
          </p:nvPr>
        </p:nvSpPr>
        <p:spPr/>
        <p:txBody>
          <a:bodyPr/>
          <a:lstStyle/>
          <a:p>
            <a:fld id="{2F94A800-DD10-4586-96F6-8816652E7436}" type="slidenum">
              <a:rPr lang="en-US" altLang="zh-CN" smtClean="0"/>
              <a:pPr/>
              <a:t>2</a:t>
            </a:fld>
            <a:endParaRPr lang="en-US" altLang="zh-CN"/>
          </a:p>
        </p:txBody>
      </p:sp>
    </p:spTree>
    <p:extLst>
      <p:ext uri="{BB962C8B-B14F-4D97-AF65-F5344CB8AC3E}">
        <p14:creationId xmlns:p14="http://schemas.microsoft.com/office/powerpoint/2010/main" val="32969777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第</a:t>
            </a:r>
            <a:r>
              <a:rPr lang="en-US" altLang="zh-CN" dirty="0"/>
              <a:t>8</a:t>
            </a:r>
            <a:r>
              <a:rPr lang="zh-CN" altLang="en-US" dirty="0"/>
              <a:t>章 </a:t>
            </a:r>
          </a:p>
        </p:txBody>
      </p:sp>
      <p:sp>
        <p:nvSpPr>
          <p:cNvPr id="3" name="内容占位符 2"/>
          <p:cNvSpPr>
            <a:spLocks noGrp="1"/>
          </p:cNvSpPr>
          <p:nvPr>
            <p:ph idx="1"/>
          </p:nvPr>
        </p:nvSpPr>
        <p:spPr>
          <a:xfrm>
            <a:off x="381000" y="1295400"/>
            <a:ext cx="8229600" cy="5334000"/>
          </a:xfrm>
        </p:spPr>
        <p:txBody>
          <a:bodyPr/>
          <a:lstStyle/>
          <a:p>
            <a:pPr marL="0" indent="0">
              <a:buNone/>
            </a:pPr>
            <a:r>
              <a:rPr lang="en-US" altLang="zh-CN" sz="2400" dirty="0"/>
              <a:t>1. </a:t>
            </a:r>
            <a:r>
              <a:rPr lang="zh-CN" altLang="en-US" sz="2400" b="1" dirty="0">
                <a:latin typeface="黑体" panose="02010609060101010101" pitchFamily="49" charset="-122"/>
                <a:ea typeface="黑体" panose="02010609060101010101" pitchFamily="49" charset="-122"/>
              </a:rPr>
              <a:t>答：</a:t>
            </a:r>
            <a:r>
              <a:rPr lang="zh-CN" altLang="en-US" sz="2400" dirty="0"/>
              <a:t>（</a:t>
            </a:r>
            <a:r>
              <a:rPr lang="en-US" altLang="zh-CN" sz="2400" dirty="0"/>
              <a:t>2</a:t>
            </a:r>
            <a:r>
              <a:rPr lang="zh-CN" altLang="en-US" sz="2400" dirty="0"/>
              <a:t>）（注：图</a:t>
            </a:r>
            <a:r>
              <a:rPr lang="en-US" altLang="zh-CN" sz="2400" dirty="0"/>
              <a:t>9.12~9.14</a:t>
            </a:r>
            <a:r>
              <a:rPr lang="zh-CN" altLang="en-US" sz="2400" dirty="0"/>
              <a:t>这三个索引均为顺序表索引，且顺序表是按照</a:t>
            </a:r>
            <a:r>
              <a:rPr lang="en-US" altLang="zh-CN" sz="2400" dirty="0"/>
              <a:t>sno</a:t>
            </a:r>
            <a:r>
              <a:rPr lang="zh-CN" altLang="en-US" sz="2400" dirty="0"/>
              <a:t>升序排列）</a:t>
            </a:r>
            <a:endParaRPr lang="en-US" altLang="zh-CN" sz="2400" dirty="0"/>
          </a:p>
          <a:p>
            <a:pPr marL="0" indent="0">
              <a:buNone/>
            </a:pPr>
            <a:r>
              <a:rPr lang="zh-CN" altLang="en-US" sz="2400" dirty="0"/>
              <a:t>图</a:t>
            </a:r>
            <a:r>
              <a:rPr lang="en-US" altLang="zh-CN" sz="2400" dirty="0"/>
              <a:t>9.12</a:t>
            </a:r>
            <a:r>
              <a:rPr lang="zh-CN" altLang="en-US" sz="2400" dirty="0"/>
              <a:t>的稠密索引中：</a:t>
            </a:r>
            <a:r>
              <a:rPr lang="zh-CN" altLang="en-US" sz="2400" dirty="0">
                <a:latin typeface="宋体" panose="02010600030101010101" pitchFamily="2" charset="-122"/>
                <a:ea typeface="宋体" panose="02010600030101010101" pitchFamily="2" charset="-122"/>
              </a:rPr>
              <a:t> ① </a:t>
            </a:r>
            <a:r>
              <a:rPr lang="zh-CN" altLang="en-US" sz="2400" dirty="0"/>
              <a:t>先按照索引的排列顺序查找</a:t>
            </a:r>
            <a:r>
              <a:rPr lang="en-US" altLang="zh-CN" sz="2400" dirty="0"/>
              <a:t>sno</a:t>
            </a:r>
            <a:r>
              <a:rPr lang="zh-CN" altLang="en-US" sz="2400" dirty="0"/>
              <a:t>属性上的索引块列表（可以遍历或者用二分查找等快速查找算法），找到</a:t>
            </a:r>
            <a:r>
              <a:rPr lang="en-US" altLang="zh-CN" sz="2400" dirty="0"/>
              <a:t>sno&gt;=20180014</a:t>
            </a:r>
            <a:r>
              <a:rPr lang="zh-CN" altLang="en-US" sz="2400" dirty="0"/>
              <a:t>的第一个索引项；</a:t>
            </a:r>
            <a:endParaRPr lang="en-US" altLang="zh-CN" sz="2400" dirty="0"/>
          </a:p>
          <a:p>
            <a:pPr marL="0" indent="0">
              <a:buNone/>
            </a:pPr>
            <a:r>
              <a:rPr lang="zh-CN" altLang="en-US" sz="2400" dirty="0">
                <a:latin typeface="宋体" panose="02010600030101010101" pitchFamily="2" charset="-122"/>
                <a:ea typeface="宋体" panose="02010600030101010101" pitchFamily="2" charset="-122"/>
              </a:rPr>
              <a:t>②</a:t>
            </a:r>
            <a:r>
              <a:rPr lang="zh-CN" altLang="en-US" sz="2400" dirty="0"/>
              <a:t>然后，依据索引记录中的元组指针找到元组所在数据块；</a:t>
            </a:r>
            <a:endParaRPr lang="en-US" altLang="zh-CN" sz="2400" dirty="0"/>
          </a:p>
          <a:p>
            <a:pPr marL="0" indent="0">
              <a:buNone/>
            </a:pPr>
            <a:r>
              <a:rPr lang="zh-CN" altLang="en-US" sz="2400" dirty="0">
                <a:latin typeface="宋体" panose="02010600030101010101" pitchFamily="2" charset="-122"/>
                <a:ea typeface="宋体" panose="02010600030101010101" pitchFamily="2" charset="-122"/>
              </a:rPr>
              <a:t>③</a:t>
            </a:r>
            <a:r>
              <a:rPr lang="zh-CN" altLang="en-US" sz="2400" dirty="0"/>
              <a:t>然后按照数据块的排序依次读取</a:t>
            </a:r>
            <a:r>
              <a:rPr lang="en-US" altLang="zh-CN" sz="2400" dirty="0"/>
              <a:t>sno &gt;= 20180014</a:t>
            </a:r>
            <a:r>
              <a:rPr lang="zh-CN" altLang="en-US" sz="2400" dirty="0"/>
              <a:t>的全部记录。</a:t>
            </a:r>
            <a:endParaRPr lang="en-US" altLang="zh-CN" sz="2400" dirty="0"/>
          </a:p>
        </p:txBody>
      </p:sp>
      <p:sp>
        <p:nvSpPr>
          <p:cNvPr id="4" name="灯片编号占位符 3"/>
          <p:cNvSpPr>
            <a:spLocks noGrp="1"/>
          </p:cNvSpPr>
          <p:nvPr>
            <p:ph type="sldNum" sz="quarter" idx="12"/>
          </p:nvPr>
        </p:nvSpPr>
        <p:spPr/>
        <p:txBody>
          <a:bodyPr/>
          <a:lstStyle/>
          <a:p>
            <a:fld id="{2F94A800-DD10-4586-96F6-8816652E7436}" type="slidenum">
              <a:rPr lang="en-US" altLang="zh-CN" smtClean="0"/>
              <a:pPr/>
              <a:t>3</a:t>
            </a:fld>
            <a:endParaRPr lang="en-US" altLang="zh-CN"/>
          </a:p>
        </p:txBody>
      </p:sp>
    </p:spTree>
    <p:extLst>
      <p:ext uri="{BB962C8B-B14F-4D97-AF65-F5344CB8AC3E}">
        <p14:creationId xmlns:p14="http://schemas.microsoft.com/office/powerpoint/2010/main" val="2287067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第</a:t>
            </a:r>
            <a:r>
              <a:rPr lang="en-US" altLang="zh-CN" dirty="0"/>
              <a:t>8</a:t>
            </a:r>
            <a:r>
              <a:rPr lang="zh-CN" altLang="en-US" dirty="0"/>
              <a:t>章 </a:t>
            </a:r>
          </a:p>
        </p:txBody>
      </p:sp>
      <p:sp>
        <p:nvSpPr>
          <p:cNvPr id="3" name="内容占位符 2"/>
          <p:cNvSpPr>
            <a:spLocks noGrp="1"/>
          </p:cNvSpPr>
          <p:nvPr>
            <p:ph idx="1"/>
          </p:nvPr>
        </p:nvSpPr>
        <p:spPr>
          <a:xfrm>
            <a:off x="381000" y="1295400"/>
            <a:ext cx="8229600" cy="5334000"/>
          </a:xfrm>
        </p:spPr>
        <p:txBody>
          <a:bodyPr/>
          <a:lstStyle/>
          <a:p>
            <a:pPr marL="0" indent="0">
              <a:buNone/>
            </a:pPr>
            <a:r>
              <a:rPr lang="en-US" altLang="zh-CN" sz="2400" dirty="0"/>
              <a:t>1. </a:t>
            </a:r>
            <a:r>
              <a:rPr lang="zh-CN" altLang="en-US" sz="2400" b="1" dirty="0">
                <a:latin typeface="黑体" panose="02010609060101010101" pitchFamily="49" charset="-122"/>
                <a:ea typeface="黑体" panose="02010609060101010101" pitchFamily="49" charset="-122"/>
              </a:rPr>
              <a:t>答：</a:t>
            </a:r>
            <a:r>
              <a:rPr lang="zh-CN" altLang="en-US" sz="2400" dirty="0"/>
              <a:t>（</a:t>
            </a:r>
            <a:r>
              <a:rPr lang="en-US" altLang="zh-CN" sz="2400" dirty="0"/>
              <a:t>2</a:t>
            </a:r>
            <a:r>
              <a:rPr lang="zh-CN" altLang="en-US" sz="2400" dirty="0"/>
              <a:t>续）</a:t>
            </a:r>
            <a:endParaRPr lang="en-US" altLang="zh-CN" sz="2400" dirty="0"/>
          </a:p>
          <a:p>
            <a:pPr marL="0" indent="0">
              <a:buNone/>
            </a:pPr>
            <a:r>
              <a:rPr lang="zh-CN" altLang="en-US" sz="2400" dirty="0"/>
              <a:t>图</a:t>
            </a:r>
            <a:r>
              <a:rPr lang="en-US" altLang="zh-CN" sz="2400" dirty="0"/>
              <a:t>9.13</a:t>
            </a:r>
            <a:r>
              <a:rPr lang="zh-CN" altLang="en-US" sz="2400" dirty="0"/>
              <a:t>的稀疏索引中：</a:t>
            </a:r>
            <a:r>
              <a:rPr lang="zh-CN" altLang="en-US" sz="2400" dirty="0">
                <a:latin typeface="宋体" panose="02010600030101010101" pitchFamily="2" charset="-122"/>
                <a:ea typeface="宋体" panose="02010600030101010101" pitchFamily="2" charset="-122"/>
              </a:rPr>
              <a:t> ①</a:t>
            </a:r>
            <a:r>
              <a:rPr lang="zh-CN" altLang="en-US" sz="2400" dirty="0"/>
              <a:t>先按照索引的排列顺序（图中按照</a:t>
            </a:r>
            <a:r>
              <a:rPr lang="en-US" altLang="zh-CN" sz="2400" dirty="0"/>
              <a:t>sno</a:t>
            </a:r>
            <a:r>
              <a:rPr lang="zh-CN" altLang="en-US" sz="2400" dirty="0"/>
              <a:t>属性升序排列）用顺序或者二分查找方法搜索</a:t>
            </a:r>
            <a:r>
              <a:rPr lang="en-US" altLang="zh-CN" sz="2400" dirty="0"/>
              <a:t>sno</a:t>
            </a:r>
            <a:r>
              <a:rPr lang="zh-CN" altLang="en-US" sz="2400" dirty="0"/>
              <a:t>属性上的索引块列表，找到</a:t>
            </a:r>
            <a:r>
              <a:rPr lang="en-US" altLang="zh-CN" sz="2400" dirty="0" err="1"/>
              <a:t>sn</a:t>
            </a:r>
            <a:r>
              <a:rPr lang="en-US" altLang="zh-CN" sz="2400" dirty="0"/>
              <a:t>&lt;20180014</a:t>
            </a:r>
            <a:r>
              <a:rPr lang="zh-CN" altLang="en-US" sz="2400" dirty="0"/>
              <a:t>的最大索引项；</a:t>
            </a:r>
            <a:endParaRPr lang="en-US" altLang="zh-CN" sz="2400" dirty="0"/>
          </a:p>
          <a:p>
            <a:pPr marL="0" indent="0">
              <a:buNone/>
            </a:pPr>
            <a:r>
              <a:rPr lang="zh-CN" altLang="en-US" sz="2400" dirty="0">
                <a:latin typeface="宋体" panose="02010600030101010101" pitchFamily="2" charset="-122"/>
                <a:ea typeface="宋体" panose="02010600030101010101" pitchFamily="2" charset="-122"/>
              </a:rPr>
              <a:t>②</a:t>
            </a:r>
            <a:r>
              <a:rPr lang="zh-CN" altLang="en-US" sz="2400" dirty="0"/>
              <a:t>然后依据该索引项的指针找到其数据块；</a:t>
            </a:r>
            <a:endParaRPr lang="en-US" altLang="zh-CN" sz="2400" dirty="0"/>
          </a:p>
          <a:p>
            <a:pPr marL="0" indent="0">
              <a:buNone/>
            </a:pPr>
            <a:r>
              <a:rPr lang="zh-CN" altLang="en-US" sz="2400" dirty="0">
                <a:latin typeface="宋体" panose="02010600030101010101" pitchFamily="2" charset="-122"/>
                <a:ea typeface="宋体" panose="02010600030101010101" pitchFamily="2" charset="-122"/>
              </a:rPr>
              <a:t>③</a:t>
            </a:r>
            <a:r>
              <a:rPr lang="zh-CN" altLang="en-US" sz="2400" dirty="0"/>
              <a:t>然后按照数据块的排序依次读取</a:t>
            </a:r>
            <a:r>
              <a:rPr lang="en-US" altLang="zh-CN" sz="2400" dirty="0"/>
              <a:t>sno &gt;= 20180014</a:t>
            </a:r>
            <a:r>
              <a:rPr lang="zh-CN" altLang="en-US" sz="2400" dirty="0"/>
              <a:t>的全部记录。</a:t>
            </a:r>
            <a:endParaRPr lang="en-US" altLang="zh-CN" sz="2400" dirty="0"/>
          </a:p>
        </p:txBody>
      </p:sp>
      <p:sp>
        <p:nvSpPr>
          <p:cNvPr id="4" name="灯片编号占位符 3"/>
          <p:cNvSpPr>
            <a:spLocks noGrp="1"/>
          </p:cNvSpPr>
          <p:nvPr>
            <p:ph type="sldNum" sz="quarter" idx="12"/>
          </p:nvPr>
        </p:nvSpPr>
        <p:spPr/>
        <p:txBody>
          <a:bodyPr/>
          <a:lstStyle/>
          <a:p>
            <a:fld id="{2F94A800-DD10-4586-96F6-8816652E7436}" type="slidenum">
              <a:rPr lang="en-US" altLang="zh-CN" smtClean="0"/>
              <a:pPr/>
              <a:t>4</a:t>
            </a:fld>
            <a:endParaRPr lang="en-US" altLang="zh-CN"/>
          </a:p>
        </p:txBody>
      </p:sp>
    </p:spTree>
    <p:extLst>
      <p:ext uri="{BB962C8B-B14F-4D97-AF65-F5344CB8AC3E}">
        <p14:creationId xmlns:p14="http://schemas.microsoft.com/office/powerpoint/2010/main" val="3735050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第</a:t>
            </a:r>
            <a:r>
              <a:rPr lang="en-US" altLang="zh-CN" dirty="0"/>
              <a:t>8</a:t>
            </a:r>
            <a:r>
              <a:rPr lang="zh-CN" altLang="en-US" dirty="0"/>
              <a:t>章 </a:t>
            </a:r>
          </a:p>
        </p:txBody>
      </p:sp>
      <p:sp>
        <p:nvSpPr>
          <p:cNvPr id="3" name="内容占位符 2"/>
          <p:cNvSpPr>
            <a:spLocks noGrp="1"/>
          </p:cNvSpPr>
          <p:nvPr>
            <p:ph idx="1"/>
          </p:nvPr>
        </p:nvSpPr>
        <p:spPr>
          <a:xfrm>
            <a:off x="381000" y="1295400"/>
            <a:ext cx="8229600" cy="5334000"/>
          </a:xfrm>
        </p:spPr>
        <p:txBody>
          <a:bodyPr/>
          <a:lstStyle/>
          <a:p>
            <a:pPr marL="0" indent="0">
              <a:buNone/>
            </a:pPr>
            <a:r>
              <a:rPr lang="en-US" altLang="zh-CN" sz="2400" dirty="0"/>
              <a:t>1. </a:t>
            </a:r>
            <a:r>
              <a:rPr lang="zh-CN" altLang="en-US" sz="2400" b="1" dirty="0">
                <a:latin typeface="黑体" panose="02010609060101010101" pitchFamily="49" charset="-122"/>
                <a:ea typeface="黑体" panose="02010609060101010101" pitchFamily="49" charset="-122"/>
              </a:rPr>
              <a:t>答：</a:t>
            </a:r>
            <a:r>
              <a:rPr lang="zh-CN" altLang="en-US" sz="2400" dirty="0"/>
              <a:t>（</a:t>
            </a:r>
            <a:r>
              <a:rPr lang="en-US" altLang="zh-CN" sz="2400" dirty="0"/>
              <a:t>2</a:t>
            </a:r>
            <a:r>
              <a:rPr lang="zh-CN" altLang="en-US" sz="2400" dirty="0"/>
              <a:t>续）</a:t>
            </a:r>
            <a:endParaRPr lang="en-US" altLang="zh-CN" sz="2400" dirty="0"/>
          </a:p>
          <a:p>
            <a:pPr marL="0" indent="0">
              <a:buNone/>
            </a:pPr>
            <a:r>
              <a:rPr lang="zh-CN" altLang="en-US" sz="2400" dirty="0"/>
              <a:t>图</a:t>
            </a:r>
            <a:r>
              <a:rPr lang="en-US" altLang="zh-CN" sz="2400" dirty="0"/>
              <a:t>9.14</a:t>
            </a:r>
            <a:r>
              <a:rPr lang="zh-CN" altLang="en-US" sz="2400" dirty="0"/>
              <a:t>的多级索引中：</a:t>
            </a:r>
            <a:r>
              <a:rPr lang="zh-CN" altLang="zh-CN" sz="2400" dirty="0">
                <a:latin typeface="宋体" panose="02010600030101010101" pitchFamily="2" charset="-122"/>
                <a:ea typeface="宋体" panose="02010600030101010101" pitchFamily="2" charset="-122"/>
              </a:rPr>
              <a:t> ① </a:t>
            </a:r>
            <a:r>
              <a:rPr lang="zh-CN" altLang="en-US" sz="2400" dirty="0"/>
              <a:t>按照图</a:t>
            </a:r>
            <a:r>
              <a:rPr lang="en-US" altLang="zh-CN" sz="2400" dirty="0"/>
              <a:t>9.13</a:t>
            </a:r>
            <a:r>
              <a:rPr lang="zh-CN" altLang="en-US" sz="2400" dirty="0"/>
              <a:t>的稀疏索引的查找过程从高层索引开始逐层向下搜索下一层该搜索的索引块，直至最底层</a:t>
            </a:r>
            <a:r>
              <a:rPr lang="en-US" altLang="zh-CN" sz="2400" dirty="0"/>
              <a:t>sno&lt;20180014</a:t>
            </a:r>
            <a:r>
              <a:rPr lang="zh-CN" altLang="en-US" sz="2400" dirty="0"/>
              <a:t>的最大索引项所在索引块；</a:t>
            </a:r>
            <a:endParaRPr lang="en-US" altLang="zh-CN" sz="2400" dirty="0"/>
          </a:p>
          <a:p>
            <a:pPr marL="0" indent="0">
              <a:buNone/>
            </a:pPr>
            <a:r>
              <a:rPr lang="zh-CN" altLang="en-US" sz="2400" dirty="0">
                <a:latin typeface="宋体" panose="02010600030101010101" pitchFamily="2" charset="-122"/>
                <a:ea typeface="宋体" panose="02010600030101010101" pitchFamily="2" charset="-122"/>
              </a:rPr>
              <a:t>②</a:t>
            </a:r>
            <a:r>
              <a:rPr lang="zh-CN" altLang="en-US" sz="2400" dirty="0"/>
              <a:t>然后依据该索引项找到相应的数据块；</a:t>
            </a:r>
            <a:endParaRPr lang="en-US" altLang="zh-CN" sz="2400" dirty="0"/>
          </a:p>
          <a:p>
            <a:pPr marL="0" indent="0">
              <a:buNone/>
            </a:pPr>
            <a:r>
              <a:rPr lang="zh-CN" altLang="en-US" sz="2400" dirty="0">
                <a:latin typeface="宋体" panose="02010600030101010101" pitchFamily="2" charset="-122"/>
                <a:ea typeface="宋体" panose="02010600030101010101" pitchFamily="2" charset="-122"/>
              </a:rPr>
              <a:t>③</a:t>
            </a:r>
            <a:r>
              <a:rPr lang="zh-CN" altLang="en-US" sz="2400" dirty="0"/>
              <a:t>然后按照数据块的顺序依次读取</a:t>
            </a:r>
            <a:r>
              <a:rPr lang="en-US" altLang="zh-CN" sz="2400" dirty="0"/>
              <a:t>sno&gt;=20180014</a:t>
            </a:r>
            <a:r>
              <a:rPr lang="zh-CN" altLang="en-US" sz="2400" dirty="0"/>
              <a:t>的所有元组。</a:t>
            </a:r>
            <a:endParaRPr lang="en-US" altLang="zh-CN" sz="2400" dirty="0"/>
          </a:p>
        </p:txBody>
      </p:sp>
      <p:sp>
        <p:nvSpPr>
          <p:cNvPr id="4" name="灯片编号占位符 3"/>
          <p:cNvSpPr>
            <a:spLocks noGrp="1"/>
          </p:cNvSpPr>
          <p:nvPr>
            <p:ph type="sldNum" sz="quarter" idx="12"/>
          </p:nvPr>
        </p:nvSpPr>
        <p:spPr/>
        <p:txBody>
          <a:bodyPr/>
          <a:lstStyle/>
          <a:p>
            <a:fld id="{2F94A800-DD10-4586-96F6-8816652E7436}" type="slidenum">
              <a:rPr lang="en-US" altLang="zh-CN" smtClean="0"/>
              <a:pPr/>
              <a:t>5</a:t>
            </a:fld>
            <a:endParaRPr lang="en-US" altLang="zh-CN"/>
          </a:p>
        </p:txBody>
      </p:sp>
    </p:spTree>
    <p:extLst>
      <p:ext uri="{BB962C8B-B14F-4D97-AF65-F5344CB8AC3E}">
        <p14:creationId xmlns:p14="http://schemas.microsoft.com/office/powerpoint/2010/main" val="4197672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第</a:t>
            </a:r>
            <a:r>
              <a:rPr lang="en-US" altLang="zh-CN" dirty="0"/>
              <a:t>8</a:t>
            </a:r>
            <a:r>
              <a:rPr lang="zh-CN" altLang="en-US" dirty="0"/>
              <a:t>章 </a:t>
            </a:r>
          </a:p>
        </p:txBody>
      </p:sp>
      <p:sp>
        <p:nvSpPr>
          <p:cNvPr id="3" name="内容占位符 2"/>
          <p:cNvSpPr>
            <a:spLocks noGrp="1"/>
          </p:cNvSpPr>
          <p:nvPr>
            <p:ph idx="1"/>
          </p:nvPr>
        </p:nvSpPr>
        <p:spPr>
          <a:xfrm>
            <a:off x="381000" y="1295400"/>
            <a:ext cx="8229600" cy="5334000"/>
          </a:xfrm>
        </p:spPr>
        <p:txBody>
          <a:bodyPr/>
          <a:lstStyle/>
          <a:p>
            <a:pPr marL="0" indent="0">
              <a:buNone/>
            </a:pPr>
            <a:r>
              <a:rPr lang="en-US" altLang="zh-CN" sz="2400" dirty="0"/>
              <a:t>2. </a:t>
            </a:r>
            <a:r>
              <a:rPr lang="zh-CN" altLang="en-US" sz="2400" dirty="0"/>
              <a:t>简述数据库堆文件的链表和页目录两种组织方式中，空闲空间分别是如何组织的？</a:t>
            </a:r>
            <a:br>
              <a:rPr lang="zh-CN" altLang="en-US" sz="2400" dirty="0"/>
            </a:br>
            <a:r>
              <a:rPr lang="zh-CN" altLang="en-US" sz="2400" b="1" dirty="0">
                <a:latin typeface="黑体" panose="02010609060101010101" pitchFamily="49" charset="-122"/>
                <a:ea typeface="黑体" panose="02010609060101010101" pitchFamily="49" charset="-122"/>
              </a:rPr>
              <a:t>答：链表方式下，</a:t>
            </a:r>
            <a:r>
              <a:rPr lang="zh-CN" altLang="en-US" sz="2400" dirty="0"/>
              <a:t>堆文件头部设立一个</a:t>
            </a:r>
            <a:r>
              <a:rPr lang="en-US" altLang="zh-CN" sz="2400" dirty="0"/>
              <a:t>header </a:t>
            </a:r>
            <a:r>
              <a:rPr lang="zh-CN" altLang="en-US" sz="2400" dirty="0"/>
              <a:t>页面，并存放两个指针，其中一个指针指向空页列表（</a:t>
            </a:r>
            <a:r>
              <a:rPr lang="en-US" altLang="zh-CN" sz="2400" dirty="0"/>
              <a:t>free list</a:t>
            </a:r>
            <a:r>
              <a:rPr lang="zh-CN" altLang="en-US" sz="2400" dirty="0"/>
              <a:t>）头部，一个指向数据页列表头部。而在每个页面内部，均记录当前空闲的空间（</a:t>
            </a:r>
            <a:r>
              <a:rPr lang="en-US" altLang="zh-CN" sz="2400" dirty="0"/>
              <a:t>slot</a:t>
            </a:r>
            <a:r>
              <a:rPr lang="zh-CN" altLang="en-US" sz="2400" dirty="0"/>
              <a:t>）。</a:t>
            </a:r>
            <a:endParaRPr lang="en-US" altLang="zh-CN" sz="2400" dirty="0"/>
          </a:p>
          <a:p>
            <a:pPr marL="0" indent="0">
              <a:buNone/>
            </a:pPr>
            <a:endParaRPr lang="en-US" altLang="zh-CN" sz="2400" dirty="0"/>
          </a:p>
          <a:p>
            <a:pPr marL="0" indent="0">
              <a:buNone/>
            </a:pPr>
            <a:r>
              <a:rPr lang="zh-CN" altLang="en-US" sz="2400" b="1" dirty="0">
                <a:latin typeface="黑体" panose="02010609060101010101" pitchFamily="49" charset="-122"/>
                <a:ea typeface="黑体" panose="02010609060101010101" pitchFamily="49" charset="-122"/>
              </a:rPr>
              <a:t>页目录方式下， </a:t>
            </a:r>
            <a:r>
              <a:rPr lang="zh-CN" altLang="en-US" sz="2400" dirty="0"/>
              <a:t>堆文件中设立一类专门的页面（目录页），用于记录所有的数据页的存放位置，该目录也同时记录每个页面的空闲空间信息（</a:t>
            </a:r>
            <a:r>
              <a:rPr lang="en-US" altLang="zh-CN" sz="2400" dirty="0"/>
              <a:t>slot</a:t>
            </a:r>
            <a:r>
              <a:rPr lang="zh-CN" altLang="en-US" sz="2400" dirty="0"/>
              <a:t>）。</a:t>
            </a:r>
            <a:r>
              <a:rPr lang="en-US" altLang="zh-CN" sz="2400" dirty="0"/>
              <a:t>DBMS</a:t>
            </a:r>
            <a:r>
              <a:rPr lang="zh-CN" altLang="en-US" sz="2400" dirty="0"/>
              <a:t>必须保持目录页与所有页的当前信息同步。</a:t>
            </a:r>
          </a:p>
        </p:txBody>
      </p:sp>
      <p:sp>
        <p:nvSpPr>
          <p:cNvPr id="4" name="灯片编号占位符 3"/>
          <p:cNvSpPr>
            <a:spLocks noGrp="1"/>
          </p:cNvSpPr>
          <p:nvPr>
            <p:ph type="sldNum" sz="quarter" idx="12"/>
          </p:nvPr>
        </p:nvSpPr>
        <p:spPr/>
        <p:txBody>
          <a:bodyPr/>
          <a:lstStyle/>
          <a:p>
            <a:fld id="{2F94A800-DD10-4586-96F6-8816652E7436}" type="slidenum">
              <a:rPr lang="en-US" altLang="zh-CN" smtClean="0"/>
              <a:pPr/>
              <a:t>6</a:t>
            </a:fld>
            <a:endParaRPr lang="en-US" altLang="zh-CN"/>
          </a:p>
        </p:txBody>
      </p:sp>
    </p:spTree>
    <p:extLst>
      <p:ext uri="{BB962C8B-B14F-4D97-AF65-F5344CB8AC3E}">
        <p14:creationId xmlns:p14="http://schemas.microsoft.com/office/powerpoint/2010/main" val="1409955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第</a:t>
            </a:r>
            <a:r>
              <a:rPr lang="en-US" altLang="zh-CN" dirty="0"/>
              <a:t>8</a:t>
            </a:r>
            <a:r>
              <a:rPr lang="zh-CN" altLang="en-US" dirty="0"/>
              <a:t>章 </a:t>
            </a:r>
          </a:p>
        </p:txBody>
      </p:sp>
      <p:sp>
        <p:nvSpPr>
          <p:cNvPr id="3" name="内容占位符 2"/>
          <p:cNvSpPr>
            <a:spLocks noGrp="1"/>
          </p:cNvSpPr>
          <p:nvPr>
            <p:ph idx="1"/>
          </p:nvPr>
        </p:nvSpPr>
        <p:spPr>
          <a:xfrm>
            <a:off x="381000" y="1295400"/>
            <a:ext cx="8229600" cy="5334000"/>
          </a:xfrm>
        </p:spPr>
        <p:txBody>
          <a:bodyPr/>
          <a:lstStyle/>
          <a:p>
            <a:pPr marL="0" indent="0">
              <a:buNone/>
            </a:pPr>
            <a:r>
              <a:rPr lang="en-US" altLang="zh-CN" sz="2400" dirty="0"/>
              <a:t>3. </a:t>
            </a:r>
            <a:r>
              <a:rPr lang="zh-CN" altLang="en-US" sz="2400" dirty="0"/>
              <a:t>简述面向元组型的页设计中槽页方案的基本思想，并简要说明槽页方案相对于数组式的元组存储方案的好处。</a:t>
            </a:r>
            <a:endParaRPr lang="en-US" altLang="zh-CN" sz="2400" dirty="0"/>
          </a:p>
          <a:p>
            <a:pPr marL="0" indent="0">
              <a:buNone/>
            </a:pPr>
            <a:r>
              <a:rPr lang="zh-CN" altLang="en-US" sz="2400" b="1" dirty="0">
                <a:latin typeface="黑体" panose="02010609060101010101" pitchFamily="49" charset="-122"/>
                <a:ea typeface="黑体" panose="02010609060101010101" pitchFamily="49" charset="-122"/>
              </a:rPr>
              <a:t>答：</a:t>
            </a:r>
            <a:r>
              <a:rPr lang="zh-CN" altLang="en-US" sz="2400" dirty="0"/>
              <a:t>每个页面都有页头，包含页面</a:t>
            </a:r>
            <a:r>
              <a:rPr lang="en-US" altLang="zh-CN" sz="2400" dirty="0"/>
              <a:t>ID</a:t>
            </a:r>
            <a:r>
              <a:rPr lang="zh-CN" altLang="en-US" sz="2400" dirty="0"/>
              <a:t>，还会保存页面内的</a:t>
            </a:r>
            <a:r>
              <a:rPr lang="en-US" altLang="zh-CN" sz="2400" dirty="0"/>
              <a:t>Slot</a:t>
            </a:r>
            <a:r>
              <a:rPr lang="zh-CN" altLang="en-US" sz="2400" dirty="0"/>
              <a:t>数组，记录已占用的“槽位（</a:t>
            </a:r>
            <a:r>
              <a:rPr lang="en-US" altLang="zh-CN" sz="2400" dirty="0"/>
              <a:t>slot</a:t>
            </a:r>
            <a:r>
              <a:rPr lang="zh-CN" altLang="en-US" sz="2400" dirty="0"/>
              <a:t>）”、这些“槽位（</a:t>
            </a:r>
            <a:r>
              <a:rPr lang="en-US" altLang="zh-CN" sz="2400" dirty="0"/>
              <a:t>slot</a:t>
            </a:r>
            <a:r>
              <a:rPr lang="zh-CN" altLang="en-US" sz="2400" dirty="0"/>
              <a:t>）”映射到特定元组开始位置的偏移量、以及上一次使用槽位的开始位置。</a:t>
            </a:r>
          </a:p>
          <a:p>
            <a:pPr marL="0" indent="0">
              <a:buNone/>
            </a:pPr>
            <a:r>
              <a:rPr lang="zh-CN" altLang="en-US" sz="2400" dirty="0"/>
              <a:t>       元组的存放则在页内倒序从页尾向页头依次存放。元组在内部的唯一标识符：可以使用页面</a:t>
            </a:r>
            <a:r>
              <a:rPr lang="en-US" altLang="zh-CN" sz="2400" dirty="0"/>
              <a:t>ID</a:t>
            </a:r>
            <a:r>
              <a:rPr lang="zh-CN" altLang="en-US" sz="2400" dirty="0"/>
              <a:t>和</a:t>
            </a:r>
            <a:r>
              <a:rPr lang="en-US" altLang="zh-CN" sz="2400" dirty="0"/>
              <a:t>slot id</a:t>
            </a:r>
            <a:r>
              <a:rPr lang="zh-CN" altLang="en-US" sz="2400" dirty="0"/>
              <a:t>（或偏移量），也可包含文件位置信息。</a:t>
            </a:r>
          </a:p>
          <a:p>
            <a:pPr marL="0" indent="0">
              <a:buNone/>
            </a:pPr>
            <a:r>
              <a:rPr lang="zh-CN" altLang="en-US" sz="2400" dirty="0"/>
              <a:t>       槽页方案元组避免了更新、删除元组时会产生碎片的问题，同时能更好的应对变长元组的存储。</a:t>
            </a:r>
            <a:br>
              <a:rPr lang="zh-CN" altLang="en-US" sz="2400" dirty="0"/>
            </a:br>
            <a:endParaRPr lang="en-US" altLang="zh-CN" sz="2400" dirty="0"/>
          </a:p>
        </p:txBody>
      </p:sp>
      <p:sp>
        <p:nvSpPr>
          <p:cNvPr id="4" name="灯片编号占位符 3"/>
          <p:cNvSpPr>
            <a:spLocks noGrp="1"/>
          </p:cNvSpPr>
          <p:nvPr>
            <p:ph type="sldNum" sz="quarter" idx="12"/>
          </p:nvPr>
        </p:nvSpPr>
        <p:spPr/>
        <p:txBody>
          <a:bodyPr/>
          <a:lstStyle/>
          <a:p>
            <a:fld id="{2F94A800-DD10-4586-96F6-8816652E7436}" type="slidenum">
              <a:rPr lang="en-US" altLang="zh-CN" smtClean="0"/>
              <a:pPr/>
              <a:t>7</a:t>
            </a:fld>
            <a:endParaRPr lang="en-US" altLang="zh-CN"/>
          </a:p>
        </p:txBody>
      </p:sp>
    </p:spTree>
    <p:extLst>
      <p:ext uri="{BB962C8B-B14F-4D97-AF65-F5344CB8AC3E}">
        <p14:creationId xmlns:p14="http://schemas.microsoft.com/office/powerpoint/2010/main" val="37736260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第</a:t>
            </a:r>
            <a:r>
              <a:rPr lang="en-US" altLang="zh-CN" dirty="0"/>
              <a:t>8</a:t>
            </a:r>
            <a:r>
              <a:rPr lang="zh-CN" altLang="en-US" dirty="0"/>
              <a:t>章 </a:t>
            </a:r>
          </a:p>
        </p:txBody>
      </p:sp>
      <p:sp>
        <p:nvSpPr>
          <p:cNvPr id="3" name="内容占位符 2"/>
          <p:cNvSpPr>
            <a:spLocks noGrp="1"/>
          </p:cNvSpPr>
          <p:nvPr>
            <p:ph idx="1"/>
          </p:nvPr>
        </p:nvSpPr>
        <p:spPr>
          <a:xfrm>
            <a:off x="381000" y="1295400"/>
            <a:ext cx="8229600" cy="5334000"/>
          </a:xfrm>
        </p:spPr>
        <p:txBody>
          <a:bodyPr/>
          <a:lstStyle/>
          <a:p>
            <a:pPr marL="0" indent="0">
              <a:buNone/>
            </a:pPr>
            <a:r>
              <a:rPr lang="en-US" altLang="zh-CN" sz="2400" dirty="0"/>
              <a:t>4. </a:t>
            </a:r>
            <a:r>
              <a:rPr lang="zh-CN" altLang="en-US" sz="2400" dirty="0"/>
              <a:t>设有学生关系</a:t>
            </a:r>
            <a:r>
              <a:rPr lang="en-US" altLang="zh-CN" sz="2400" dirty="0"/>
              <a:t>S(SNO, SNAME, SDEPT)</a:t>
            </a:r>
            <a:r>
              <a:rPr lang="zh-CN" altLang="en-US" sz="2400" dirty="0"/>
              <a:t>存储学生的学号、姓名和所属院系，学生选课关系</a:t>
            </a:r>
            <a:r>
              <a:rPr lang="en-US" altLang="zh-CN" sz="2400" dirty="0"/>
              <a:t>SC(SNO, CNO, SCORE)</a:t>
            </a:r>
            <a:r>
              <a:rPr lang="zh-CN" altLang="en-US" sz="2400" dirty="0"/>
              <a:t>存储学生选课记录的学号、课号和成绩，现有查询的</a:t>
            </a:r>
            <a:r>
              <a:rPr lang="en-US" altLang="zh-CN" sz="2400" dirty="0"/>
              <a:t>SQL</a:t>
            </a:r>
            <a:r>
              <a:rPr lang="zh-CN" altLang="en-US" sz="2400" dirty="0"/>
              <a:t>语句“</a:t>
            </a:r>
            <a:r>
              <a:rPr lang="en-US" altLang="zh-CN" sz="2400" dirty="0"/>
              <a:t>SELECT S.SNO, CNO, SCORE FROM S, SC WHERE S.SNO=SC.SNO”</a:t>
            </a:r>
            <a:r>
              <a:rPr lang="zh-CN" altLang="en-US" sz="2400" dirty="0"/>
              <a:t>，请画出查询计划的语法树，请写出该查询语法树的处理模型采用向量模型时每个查询算子的伪代码（设算子中每次处理的一个</a:t>
            </a:r>
            <a:r>
              <a:rPr lang="en-US" altLang="zh-CN" sz="2400" dirty="0"/>
              <a:t>batch</a:t>
            </a:r>
            <a:r>
              <a:rPr lang="zh-CN" altLang="en-US" sz="2400" dirty="0"/>
              <a:t>的大小为</a:t>
            </a:r>
            <a:r>
              <a:rPr lang="en-US" altLang="zh-CN" sz="2400" dirty="0"/>
              <a:t>500</a:t>
            </a:r>
            <a:r>
              <a:rPr lang="zh-CN" altLang="en-US" sz="2400" dirty="0"/>
              <a:t>）。</a:t>
            </a:r>
            <a:endParaRPr lang="en-US" altLang="zh-CN" sz="2400" dirty="0"/>
          </a:p>
        </p:txBody>
      </p:sp>
      <p:sp>
        <p:nvSpPr>
          <p:cNvPr id="4" name="灯片编号占位符 3"/>
          <p:cNvSpPr>
            <a:spLocks noGrp="1"/>
          </p:cNvSpPr>
          <p:nvPr>
            <p:ph type="sldNum" sz="quarter" idx="12"/>
          </p:nvPr>
        </p:nvSpPr>
        <p:spPr/>
        <p:txBody>
          <a:bodyPr/>
          <a:lstStyle/>
          <a:p>
            <a:fld id="{2F94A800-DD10-4586-96F6-8816652E7436}" type="slidenum">
              <a:rPr lang="en-US" altLang="zh-CN" smtClean="0"/>
              <a:pPr/>
              <a:t>8</a:t>
            </a:fld>
            <a:endParaRPr lang="en-US" altLang="zh-CN"/>
          </a:p>
        </p:txBody>
      </p:sp>
    </p:spTree>
    <p:extLst>
      <p:ext uri="{BB962C8B-B14F-4D97-AF65-F5344CB8AC3E}">
        <p14:creationId xmlns:p14="http://schemas.microsoft.com/office/powerpoint/2010/main" val="1952565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第</a:t>
            </a:r>
            <a:r>
              <a:rPr lang="en-US" altLang="zh-CN" dirty="0"/>
              <a:t>8</a:t>
            </a:r>
            <a:r>
              <a:rPr lang="zh-CN" altLang="en-US" dirty="0"/>
              <a:t>章 </a:t>
            </a:r>
          </a:p>
        </p:txBody>
      </p:sp>
      <p:sp>
        <p:nvSpPr>
          <p:cNvPr id="3" name="内容占位符 2"/>
          <p:cNvSpPr>
            <a:spLocks noGrp="1"/>
          </p:cNvSpPr>
          <p:nvPr>
            <p:ph idx="1"/>
          </p:nvPr>
        </p:nvSpPr>
        <p:spPr>
          <a:xfrm>
            <a:off x="381000" y="1295400"/>
            <a:ext cx="4041162" cy="2362200"/>
          </a:xfrm>
        </p:spPr>
        <p:txBody>
          <a:bodyPr/>
          <a:lstStyle/>
          <a:p>
            <a:pPr marL="0" indent="0">
              <a:buNone/>
            </a:pPr>
            <a:r>
              <a:rPr lang="en-US" altLang="zh-CN" sz="2400" b="1" dirty="0">
                <a:latin typeface="黑体" panose="02010609060101010101" pitchFamily="49" charset="-122"/>
                <a:ea typeface="黑体" panose="02010609060101010101" pitchFamily="49" charset="-122"/>
              </a:rPr>
              <a:t>4. </a:t>
            </a:r>
            <a:r>
              <a:rPr lang="zh-CN" altLang="en-US" sz="2400" b="1" dirty="0">
                <a:latin typeface="黑体" panose="02010609060101010101" pitchFamily="49" charset="-122"/>
                <a:ea typeface="黑体" panose="02010609060101010101" pitchFamily="49" charset="-122"/>
              </a:rPr>
              <a:t>答：</a:t>
            </a:r>
            <a:endParaRPr lang="en-US" altLang="zh-CN" sz="2400" b="1" dirty="0">
              <a:latin typeface="黑体" panose="02010609060101010101" pitchFamily="49" charset="-122"/>
              <a:ea typeface="黑体" panose="02010609060101010101" pitchFamily="49" charset="-122"/>
            </a:endParaRPr>
          </a:p>
        </p:txBody>
      </p:sp>
      <p:sp>
        <p:nvSpPr>
          <p:cNvPr id="4" name="灯片编号占位符 3"/>
          <p:cNvSpPr>
            <a:spLocks noGrp="1"/>
          </p:cNvSpPr>
          <p:nvPr>
            <p:ph type="sldNum" sz="quarter" idx="12"/>
          </p:nvPr>
        </p:nvSpPr>
        <p:spPr/>
        <p:txBody>
          <a:bodyPr/>
          <a:lstStyle/>
          <a:p>
            <a:fld id="{2F94A800-DD10-4586-96F6-8816652E7436}" type="slidenum">
              <a:rPr lang="en-US" altLang="zh-CN" smtClean="0"/>
              <a:pPr/>
              <a:t>9</a:t>
            </a:fld>
            <a:endParaRPr lang="en-US" altLang="zh-CN"/>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800" y="1295400"/>
            <a:ext cx="2819400" cy="2229567"/>
          </a:xfrm>
          <a:prstGeom prst="rect">
            <a:avLst/>
          </a:prstGeom>
        </p:spPr>
      </p:pic>
      <p:sp>
        <p:nvSpPr>
          <p:cNvPr id="7" name="矩形 6">
            <a:extLst>
              <a:ext uri="{FF2B5EF4-FFF2-40B4-BE49-F238E27FC236}">
                <a16:creationId xmlns:a16="http://schemas.microsoft.com/office/drawing/2014/main" id="{1350803E-A679-4BCA-852B-F1145CD694F7}"/>
              </a:ext>
            </a:extLst>
          </p:cNvPr>
          <p:cNvSpPr/>
          <p:nvPr/>
        </p:nvSpPr>
        <p:spPr bwMode="auto">
          <a:xfrm>
            <a:off x="4422162" y="1203325"/>
            <a:ext cx="4104456" cy="1314223"/>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r>
              <a:rPr lang="en-US" altLang="zh-CN" sz="2000" dirty="0">
                <a:solidFill>
                  <a:prstClr val="black"/>
                </a:solidFill>
                <a:latin typeface="新宋体" panose="02010609030101010101" pitchFamily="49" charset="-122"/>
                <a:ea typeface="新宋体" panose="02010609030101010101" pitchFamily="49" charset="-122"/>
              </a:rPr>
              <a:t>  out=[]</a:t>
            </a:r>
          </a:p>
          <a:p>
            <a:r>
              <a:rPr lang="en-US" altLang="zh-CN" sz="2000" dirty="0">
                <a:solidFill>
                  <a:prstClr val="black"/>
                </a:solidFill>
                <a:latin typeface="新宋体" panose="02010609030101010101" pitchFamily="49" charset="-122"/>
                <a:ea typeface="新宋体" panose="02010609030101010101" pitchFamily="49" charset="-122"/>
              </a:rPr>
              <a:t>  f</a:t>
            </a:r>
            <a:r>
              <a:rPr lang="en-US" altLang="zh-CN" sz="2000" b="1" dirty="0">
                <a:solidFill>
                  <a:prstClr val="black"/>
                </a:solidFill>
                <a:latin typeface="新宋体" panose="02010609030101010101" pitchFamily="49" charset="-122"/>
                <a:ea typeface="新宋体" panose="02010609030101010101" pitchFamily="49" charset="-122"/>
              </a:rPr>
              <a:t>or t in </a:t>
            </a:r>
            <a:r>
              <a:rPr lang="en-US" altLang="zh-CN" sz="2000" b="1" dirty="0" err="1">
                <a:solidFill>
                  <a:srgbClr val="FF0000"/>
                </a:solidFill>
                <a:latin typeface="新宋体" panose="02010609030101010101" pitchFamily="49" charset="-122"/>
                <a:ea typeface="新宋体" panose="02010609030101010101" pitchFamily="49" charset="-122"/>
              </a:rPr>
              <a:t>child.Next</a:t>
            </a:r>
            <a:r>
              <a:rPr lang="en-US" altLang="zh-CN" sz="2000" b="1" dirty="0">
                <a:solidFill>
                  <a:srgbClr val="FF0000"/>
                </a:solidFill>
                <a:latin typeface="新宋体" panose="02010609030101010101" pitchFamily="49" charset="-122"/>
                <a:ea typeface="新宋体" panose="02010609030101010101" pitchFamily="49" charset="-122"/>
              </a:rPr>
              <a:t>()</a:t>
            </a:r>
            <a:r>
              <a:rPr lang="en-US" altLang="zh-CN" sz="2000" b="1" dirty="0">
                <a:solidFill>
                  <a:prstClr val="black"/>
                </a:solidFill>
                <a:latin typeface="新宋体" panose="02010609030101010101" pitchFamily="49" charset="-122"/>
                <a:ea typeface="新宋体" panose="02010609030101010101" pitchFamily="49" charset="-122"/>
              </a:rPr>
              <a:t>:</a:t>
            </a:r>
          </a:p>
          <a:p>
            <a:r>
              <a:rPr lang="en-US" altLang="zh-CN" sz="2000" dirty="0">
                <a:solidFill>
                  <a:prstClr val="black"/>
                </a:solidFill>
                <a:latin typeface="新宋体" panose="02010609030101010101" pitchFamily="49" charset="-122"/>
                <a:ea typeface="新宋体" panose="02010609030101010101" pitchFamily="49" charset="-122"/>
              </a:rPr>
              <a:t>     </a:t>
            </a:r>
            <a:r>
              <a:rPr lang="en-US" altLang="zh-CN" sz="2000" dirty="0" err="1">
                <a:solidFill>
                  <a:srgbClr val="FF0000"/>
                </a:solidFill>
                <a:latin typeface="新宋体" panose="02010609030101010101" pitchFamily="49" charset="-122"/>
                <a:ea typeface="新宋体" panose="02010609030101010101" pitchFamily="49" charset="-122"/>
              </a:rPr>
              <a:t>out.add</a:t>
            </a:r>
            <a:r>
              <a:rPr lang="en-US" altLang="zh-CN" sz="2000" dirty="0">
                <a:solidFill>
                  <a:prstClr val="black"/>
                </a:solidFill>
                <a:latin typeface="新宋体" panose="02010609030101010101" pitchFamily="49" charset="-122"/>
                <a:ea typeface="新宋体" panose="02010609030101010101" pitchFamily="49" charset="-122"/>
              </a:rPr>
              <a:t>(</a:t>
            </a:r>
            <a:r>
              <a:rPr lang="en-US" altLang="zh-CN" sz="2000" dirty="0">
                <a:solidFill>
                  <a:srgbClr val="FF0000"/>
                </a:solidFill>
                <a:latin typeface="新宋体" panose="02010609030101010101" pitchFamily="49" charset="-122"/>
                <a:ea typeface="新宋体" panose="02010609030101010101" pitchFamily="49" charset="-122"/>
              </a:rPr>
              <a:t>projection</a:t>
            </a:r>
            <a:r>
              <a:rPr lang="en-US" altLang="zh-CN" sz="2000" dirty="0">
                <a:solidFill>
                  <a:prstClr val="black"/>
                </a:solidFill>
                <a:latin typeface="新宋体" panose="02010609030101010101" pitchFamily="49" charset="-122"/>
                <a:ea typeface="新宋体" panose="02010609030101010101" pitchFamily="49" charset="-122"/>
              </a:rPr>
              <a:t>(t))</a:t>
            </a:r>
          </a:p>
          <a:p>
            <a:r>
              <a:rPr lang="en-US" altLang="zh-CN" sz="2000" dirty="0">
                <a:solidFill>
                  <a:prstClr val="black"/>
                </a:solidFill>
                <a:latin typeface="新宋体" panose="02010609030101010101" pitchFamily="49" charset="-122"/>
                <a:ea typeface="新宋体" panose="02010609030101010101" pitchFamily="49" charset="-122"/>
              </a:rPr>
              <a:t>     if |</a:t>
            </a:r>
            <a:r>
              <a:rPr lang="en-US" altLang="zh-CN" sz="2000" dirty="0">
                <a:solidFill>
                  <a:srgbClr val="FF0000"/>
                </a:solidFill>
                <a:latin typeface="新宋体" panose="02010609030101010101" pitchFamily="49" charset="-122"/>
                <a:ea typeface="新宋体" panose="02010609030101010101" pitchFamily="49" charset="-122"/>
              </a:rPr>
              <a:t>out</a:t>
            </a:r>
            <a:r>
              <a:rPr lang="en-US" altLang="zh-CN" sz="2000" dirty="0">
                <a:solidFill>
                  <a:prstClr val="black"/>
                </a:solidFill>
                <a:latin typeface="新宋体" panose="02010609030101010101" pitchFamily="49" charset="-122"/>
                <a:ea typeface="新宋体" panose="02010609030101010101" pitchFamily="49" charset="-122"/>
              </a:rPr>
              <a:t>|&gt;=500: </a:t>
            </a:r>
            <a:r>
              <a:rPr lang="en-US" altLang="zh-CN" sz="2000" dirty="0">
                <a:solidFill>
                  <a:srgbClr val="FF0000"/>
                </a:solidFill>
                <a:latin typeface="新宋体" panose="02010609030101010101" pitchFamily="49" charset="-122"/>
                <a:ea typeface="新宋体" panose="02010609030101010101" pitchFamily="49" charset="-122"/>
              </a:rPr>
              <a:t>emit</a:t>
            </a:r>
            <a:r>
              <a:rPr lang="en-US" altLang="zh-CN" sz="2000" dirty="0">
                <a:solidFill>
                  <a:prstClr val="black"/>
                </a:solidFill>
                <a:latin typeface="新宋体" panose="02010609030101010101" pitchFamily="49" charset="-122"/>
                <a:ea typeface="新宋体" panose="02010609030101010101" pitchFamily="49" charset="-122"/>
              </a:rPr>
              <a:t>(</a:t>
            </a:r>
            <a:r>
              <a:rPr lang="en-US" altLang="zh-CN" sz="2000" dirty="0">
                <a:solidFill>
                  <a:srgbClr val="FF0000"/>
                </a:solidFill>
                <a:latin typeface="新宋体" panose="02010609030101010101" pitchFamily="49" charset="-122"/>
                <a:ea typeface="新宋体" panose="02010609030101010101" pitchFamily="49" charset="-122"/>
              </a:rPr>
              <a:t>out</a:t>
            </a:r>
            <a:r>
              <a:rPr lang="en-US" altLang="zh-CN" sz="2000" dirty="0">
                <a:solidFill>
                  <a:prstClr val="black"/>
                </a:solidFill>
                <a:latin typeface="新宋体" panose="02010609030101010101" pitchFamily="49" charset="-122"/>
                <a:ea typeface="新宋体" panose="02010609030101010101" pitchFamily="49" charset="-122"/>
              </a:rPr>
              <a:t>)</a:t>
            </a:r>
            <a:r>
              <a:rPr lang="en-US" altLang="zh-CN" sz="2000" b="1" dirty="0">
                <a:solidFill>
                  <a:prstClr val="black"/>
                </a:solidFill>
                <a:latin typeface="新宋体" panose="02010609030101010101" pitchFamily="49" charset="-122"/>
                <a:ea typeface="新宋体" panose="02010609030101010101" pitchFamily="49" charset="-122"/>
              </a:rPr>
              <a:t>  </a:t>
            </a:r>
            <a:endParaRPr lang="zh-CN" altLang="en-US" sz="2000" b="1" dirty="0">
              <a:solidFill>
                <a:prstClr val="black"/>
              </a:solidFill>
              <a:latin typeface="新宋体" panose="02010609030101010101" pitchFamily="49" charset="-122"/>
              <a:ea typeface="新宋体" panose="02010609030101010101" pitchFamily="49" charset="-122"/>
            </a:endParaRPr>
          </a:p>
        </p:txBody>
      </p:sp>
      <p:sp>
        <p:nvSpPr>
          <p:cNvPr id="8" name="矩形 7">
            <a:extLst>
              <a:ext uri="{FF2B5EF4-FFF2-40B4-BE49-F238E27FC236}">
                <a16:creationId xmlns:a16="http://schemas.microsoft.com/office/drawing/2014/main" id="{13BA2DCD-9FC4-4BAB-8FD5-B57152D9A19C}"/>
              </a:ext>
            </a:extLst>
          </p:cNvPr>
          <p:cNvSpPr/>
          <p:nvPr/>
        </p:nvSpPr>
        <p:spPr bwMode="auto">
          <a:xfrm>
            <a:off x="4572000" y="2895327"/>
            <a:ext cx="4283360" cy="187220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r>
              <a:rPr lang="en-US" altLang="zh-CN" sz="2000" dirty="0">
                <a:solidFill>
                  <a:prstClr val="black"/>
                </a:solidFill>
                <a:latin typeface="新宋体" panose="02010609030101010101" pitchFamily="49" charset="-122"/>
                <a:ea typeface="新宋体" panose="02010609030101010101" pitchFamily="49" charset="-122"/>
              </a:rPr>
              <a:t>out=[]</a:t>
            </a:r>
          </a:p>
          <a:p>
            <a:r>
              <a:rPr lang="en-US" altLang="zh-CN" sz="2000" dirty="0">
                <a:solidFill>
                  <a:prstClr val="black"/>
                </a:solidFill>
                <a:latin typeface="新宋体" panose="02010609030101010101" pitchFamily="49" charset="-122"/>
                <a:ea typeface="新宋体" panose="02010609030101010101" pitchFamily="49" charset="-122"/>
              </a:rPr>
              <a:t>f</a:t>
            </a:r>
            <a:r>
              <a:rPr lang="en-US" altLang="zh-CN" sz="2000" b="1" dirty="0">
                <a:solidFill>
                  <a:prstClr val="black"/>
                </a:solidFill>
                <a:latin typeface="新宋体" panose="02010609030101010101" pitchFamily="49" charset="-122"/>
                <a:ea typeface="新宋体" panose="02010609030101010101" pitchFamily="49" charset="-122"/>
              </a:rPr>
              <a:t>or S in </a:t>
            </a:r>
            <a:r>
              <a:rPr lang="en-US" altLang="zh-CN" sz="2000" b="1" dirty="0" err="1">
                <a:solidFill>
                  <a:srgbClr val="FF0000"/>
                </a:solidFill>
                <a:latin typeface="新宋体" panose="02010609030101010101" pitchFamily="49" charset="-122"/>
                <a:ea typeface="新宋体" panose="02010609030101010101" pitchFamily="49" charset="-122"/>
              </a:rPr>
              <a:t>left.next</a:t>
            </a:r>
            <a:r>
              <a:rPr lang="en-US" altLang="zh-CN" sz="2000" b="1" dirty="0">
                <a:solidFill>
                  <a:srgbClr val="FF0000"/>
                </a:solidFill>
                <a:latin typeface="新宋体" panose="02010609030101010101" pitchFamily="49" charset="-122"/>
                <a:ea typeface="新宋体" panose="02010609030101010101" pitchFamily="49" charset="-122"/>
              </a:rPr>
              <a:t>()</a:t>
            </a:r>
            <a:r>
              <a:rPr lang="en-US" altLang="zh-CN" sz="2000" b="1" dirty="0">
                <a:solidFill>
                  <a:prstClr val="black"/>
                </a:solidFill>
                <a:latin typeface="新宋体" panose="02010609030101010101" pitchFamily="49" charset="-122"/>
                <a:ea typeface="新宋体" panose="02010609030101010101" pitchFamily="49" charset="-122"/>
              </a:rPr>
              <a:t>:</a:t>
            </a:r>
          </a:p>
          <a:p>
            <a:r>
              <a:rPr lang="en-US" altLang="zh-CN" sz="2000" dirty="0">
                <a:solidFill>
                  <a:srgbClr val="FF0000"/>
                </a:solidFill>
                <a:latin typeface="新宋体" panose="02010609030101010101" pitchFamily="49" charset="-122"/>
                <a:ea typeface="新宋体" panose="02010609030101010101" pitchFamily="49" charset="-122"/>
              </a:rPr>
              <a:t>  </a:t>
            </a:r>
            <a:r>
              <a:rPr lang="en-US" altLang="zh-CN" sz="2000" dirty="0" err="1">
                <a:solidFill>
                  <a:srgbClr val="FF0000"/>
                </a:solidFill>
                <a:latin typeface="新宋体" panose="02010609030101010101" pitchFamily="49" charset="-122"/>
                <a:ea typeface="新宋体" panose="02010609030101010101" pitchFamily="49" charset="-122"/>
              </a:rPr>
              <a:t>buildHashTable</a:t>
            </a:r>
            <a:r>
              <a:rPr lang="en-US" altLang="zh-CN" sz="2000" dirty="0">
                <a:solidFill>
                  <a:prstClr val="black"/>
                </a:solidFill>
                <a:latin typeface="新宋体" panose="02010609030101010101" pitchFamily="49" charset="-122"/>
                <a:ea typeface="新宋体" panose="02010609030101010101" pitchFamily="49" charset="-122"/>
              </a:rPr>
              <a:t>(S)</a:t>
            </a:r>
            <a:r>
              <a:rPr lang="en-US" altLang="zh-CN" sz="2000" b="1" dirty="0">
                <a:solidFill>
                  <a:prstClr val="black"/>
                </a:solidFill>
                <a:latin typeface="新宋体" panose="02010609030101010101" pitchFamily="49" charset="-122"/>
                <a:ea typeface="新宋体" panose="02010609030101010101" pitchFamily="49" charset="-122"/>
              </a:rPr>
              <a:t> </a:t>
            </a:r>
          </a:p>
          <a:p>
            <a:r>
              <a:rPr lang="en-US" altLang="zh-CN" sz="2000">
                <a:solidFill>
                  <a:prstClr val="black"/>
                </a:solidFill>
                <a:latin typeface="新宋体" panose="02010609030101010101" pitchFamily="49" charset="-122"/>
                <a:ea typeface="新宋体" panose="02010609030101010101" pitchFamily="49" charset="-122"/>
              </a:rPr>
              <a:t>f</a:t>
            </a:r>
            <a:r>
              <a:rPr lang="en-US" altLang="zh-CN" sz="2000" b="1">
                <a:solidFill>
                  <a:prstClr val="black"/>
                </a:solidFill>
                <a:latin typeface="新宋体" panose="02010609030101010101" pitchFamily="49" charset="-122"/>
                <a:ea typeface="新宋体" panose="02010609030101010101" pitchFamily="49" charset="-122"/>
              </a:rPr>
              <a:t>or </a:t>
            </a:r>
            <a:r>
              <a:rPr lang="en-US" altLang="zh-CN" sz="2000" b="1" dirty="0">
                <a:solidFill>
                  <a:prstClr val="black"/>
                </a:solidFill>
                <a:latin typeface="新宋体" panose="02010609030101010101" pitchFamily="49" charset="-122"/>
                <a:ea typeface="新宋体" panose="02010609030101010101" pitchFamily="49" charset="-122"/>
              </a:rPr>
              <a:t>SC in </a:t>
            </a:r>
            <a:r>
              <a:rPr lang="en-US" altLang="zh-CN" sz="2000" b="1" dirty="0" err="1">
                <a:solidFill>
                  <a:srgbClr val="FF0000"/>
                </a:solidFill>
                <a:latin typeface="新宋体" panose="02010609030101010101" pitchFamily="49" charset="-122"/>
                <a:ea typeface="新宋体" panose="02010609030101010101" pitchFamily="49" charset="-122"/>
              </a:rPr>
              <a:t>right.next</a:t>
            </a:r>
            <a:r>
              <a:rPr lang="en-US" altLang="zh-CN" sz="2000" b="1" dirty="0">
                <a:solidFill>
                  <a:srgbClr val="FF0000"/>
                </a:solidFill>
                <a:latin typeface="新宋体" panose="02010609030101010101" pitchFamily="49" charset="-122"/>
                <a:ea typeface="新宋体" panose="02010609030101010101" pitchFamily="49" charset="-122"/>
              </a:rPr>
              <a:t>()</a:t>
            </a:r>
            <a:r>
              <a:rPr lang="en-US" altLang="zh-CN" sz="2000" b="1" dirty="0">
                <a:solidFill>
                  <a:prstClr val="black"/>
                </a:solidFill>
                <a:latin typeface="新宋体" panose="02010609030101010101" pitchFamily="49" charset="-122"/>
                <a:ea typeface="新宋体" panose="02010609030101010101" pitchFamily="49" charset="-122"/>
              </a:rPr>
              <a:t>:</a:t>
            </a:r>
          </a:p>
          <a:p>
            <a:r>
              <a:rPr lang="en-US" altLang="zh-CN" sz="2000" dirty="0">
                <a:solidFill>
                  <a:prstClr val="black"/>
                </a:solidFill>
                <a:latin typeface="新宋体" panose="02010609030101010101" pitchFamily="49" charset="-122"/>
                <a:ea typeface="新宋体" panose="02010609030101010101" pitchFamily="49" charset="-122"/>
              </a:rPr>
              <a:t>    if</a:t>
            </a:r>
            <a:r>
              <a:rPr lang="en-US" altLang="zh-CN" sz="2000" dirty="0">
                <a:solidFill>
                  <a:srgbClr val="FF0000"/>
                </a:solidFill>
                <a:latin typeface="新宋体" panose="02010609030101010101" pitchFamily="49" charset="-122"/>
                <a:ea typeface="新宋体" panose="02010609030101010101" pitchFamily="49" charset="-122"/>
              </a:rPr>
              <a:t> Probe</a:t>
            </a:r>
            <a:r>
              <a:rPr lang="en-US" altLang="zh-CN" sz="2000" dirty="0">
                <a:solidFill>
                  <a:prstClr val="black"/>
                </a:solidFill>
                <a:latin typeface="新宋体" panose="02010609030101010101" pitchFamily="49" charset="-122"/>
                <a:ea typeface="新宋体" panose="02010609030101010101" pitchFamily="49" charset="-122"/>
              </a:rPr>
              <a:t>(SC)</a:t>
            </a:r>
            <a:r>
              <a:rPr lang="en-US" altLang="zh-CN" sz="2000" dirty="0">
                <a:solidFill>
                  <a:srgbClr val="FF0000"/>
                </a:solidFill>
                <a:latin typeface="新宋体" panose="02010609030101010101" pitchFamily="49" charset="-122"/>
                <a:ea typeface="新宋体" panose="02010609030101010101" pitchFamily="49" charset="-122"/>
              </a:rPr>
              <a:t> </a:t>
            </a:r>
            <a:r>
              <a:rPr lang="en-US" altLang="zh-CN" sz="2000" dirty="0" err="1">
                <a:solidFill>
                  <a:srgbClr val="FF0000"/>
                </a:solidFill>
                <a:latin typeface="新宋体" panose="02010609030101010101" pitchFamily="49" charset="-122"/>
                <a:ea typeface="新宋体" panose="02010609030101010101" pitchFamily="49" charset="-122"/>
              </a:rPr>
              <a:t>out.add</a:t>
            </a:r>
            <a:r>
              <a:rPr lang="en-US" altLang="zh-CN" sz="2000" dirty="0">
                <a:solidFill>
                  <a:prstClr val="black"/>
                </a:solidFill>
                <a:latin typeface="新宋体" panose="02010609030101010101" pitchFamily="49" charset="-122"/>
                <a:ea typeface="新宋体" panose="02010609030101010101" pitchFamily="49" charset="-122"/>
              </a:rPr>
              <a:t>(S</a:t>
            </a:r>
            <a:r>
              <a:rPr lang="en-US" altLang="zh-CN" sz="2000" dirty="0">
                <a:solidFill>
                  <a:srgbClr val="FF0000"/>
                </a:solidFill>
                <a:latin typeface="新宋体" panose="02010609030101010101" pitchFamily="49" charset="-122"/>
                <a:ea typeface="新宋体" panose="02010609030101010101" pitchFamily="49" charset="-122"/>
              </a:rPr>
              <a:t> </a:t>
            </a:r>
            <a:r>
              <a:rPr lang="en-US" altLang="zh-CN" sz="2000" dirty="0">
                <a:solidFill>
                  <a:prstClr val="black"/>
                </a:solidFill>
                <a:latin typeface="Arial Unicode MS"/>
                <a:ea typeface="Arial Unicode MS"/>
                <a:cs typeface="Arial Unicode MS"/>
              </a:rPr>
              <a:t>⋈</a:t>
            </a:r>
            <a:r>
              <a:rPr lang="en-US" altLang="zh-CN" sz="2000" dirty="0">
                <a:solidFill>
                  <a:srgbClr val="FF0000"/>
                </a:solidFill>
                <a:latin typeface="新宋体" panose="02010609030101010101" pitchFamily="49" charset="-122"/>
                <a:ea typeface="新宋体" panose="02010609030101010101" pitchFamily="49" charset="-122"/>
              </a:rPr>
              <a:t> SC</a:t>
            </a:r>
            <a:r>
              <a:rPr lang="en-US" altLang="zh-CN" sz="2000" dirty="0">
                <a:solidFill>
                  <a:prstClr val="black"/>
                </a:solidFill>
                <a:latin typeface="新宋体" panose="02010609030101010101" pitchFamily="49" charset="-122"/>
                <a:ea typeface="新宋体" panose="02010609030101010101" pitchFamily="49" charset="-122"/>
              </a:rPr>
              <a:t>)</a:t>
            </a:r>
          </a:p>
          <a:p>
            <a:r>
              <a:rPr lang="en-US" altLang="zh-CN" sz="2000" dirty="0">
                <a:solidFill>
                  <a:srgbClr val="FF0000"/>
                </a:solidFill>
                <a:latin typeface="新宋体" panose="02010609030101010101" pitchFamily="49" charset="-122"/>
                <a:ea typeface="新宋体" panose="02010609030101010101" pitchFamily="49" charset="-122"/>
              </a:rPr>
              <a:t>    </a:t>
            </a:r>
            <a:r>
              <a:rPr lang="en-US" altLang="zh-CN" sz="2000" dirty="0">
                <a:solidFill>
                  <a:prstClr val="black"/>
                </a:solidFill>
                <a:latin typeface="新宋体" panose="02010609030101010101" pitchFamily="49" charset="-122"/>
                <a:ea typeface="新宋体" panose="02010609030101010101" pitchFamily="49" charset="-122"/>
              </a:rPr>
              <a:t>if |</a:t>
            </a:r>
            <a:r>
              <a:rPr lang="en-US" altLang="zh-CN" sz="2000" dirty="0">
                <a:solidFill>
                  <a:srgbClr val="FF0000"/>
                </a:solidFill>
                <a:latin typeface="新宋体" panose="02010609030101010101" pitchFamily="49" charset="-122"/>
                <a:ea typeface="新宋体" panose="02010609030101010101" pitchFamily="49" charset="-122"/>
              </a:rPr>
              <a:t>out</a:t>
            </a:r>
            <a:r>
              <a:rPr lang="en-US" altLang="zh-CN" sz="2000" dirty="0">
                <a:solidFill>
                  <a:prstClr val="black"/>
                </a:solidFill>
                <a:latin typeface="新宋体" panose="02010609030101010101" pitchFamily="49" charset="-122"/>
                <a:ea typeface="新宋体" panose="02010609030101010101" pitchFamily="49" charset="-122"/>
              </a:rPr>
              <a:t>|&gt;=500: </a:t>
            </a:r>
            <a:r>
              <a:rPr lang="en-US" altLang="zh-CN" sz="2000" dirty="0">
                <a:solidFill>
                  <a:srgbClr val="FF0000"/>
                </a:solidFill>
                <a:latin typeface="新宋体" panose="02010609030101010101" pitchFamily="49" charset="-122"/>
                <a:ea typeface="新宋体" panose="02010609030101010101" pitchFamily="49" charset="-122"/>
              </a:rPr>
              <a:t>emit</a:t>
            </a:r>
            <a:r>
              <a:rPr lang="en-US" altLang="zh-CN" sz="2000" dirty="0">
                <a:solidFill>
                  <a:prstClr val="black"/>
                </a:solidFill>
                <a:latin typeface="新宋体" panose="02010609030101010101" pitchFamily="49" charset="-122"/>
                <a:ea typeface="新宋体" panose="02010609030101010101" pitchFamily="49" charset="-122"/>
              </a:rPr>
              <a:t>(</a:t>
            </a:r>
            <a:r>
              <a:rPr lang="en-US" altLang="zh-CN" sz="2000" dirty="0">
                <a:solidFill>
                  <a:srgbClr val="FF0000"/>
                </a:solidFill>
                <a:latin typeface="新宋体" panose="02010609030101010101" pitchFamily="49" charset="-122"/>
                <a:ea typeface="新宋体" panose="02010609030101010101" pitchFamily="49" charset="-122"/>
              </a:rPr>
              <a:t>out</a:t>
            </a:r>
            <a:r>
              <a:rPr lang="en-US" altLang="zh-CN" sz="2000" dirty="0">
                <a:solidFill>
                  <a:prstClr val="black"/>
                </a:solidFill>
                <a:latin typeface="新宋体" panose="02010609030101010101" pitchFamily="49" charset="-122"/>
                <a:ea typeface="新宋体" panose="02010609030101010101" pitchFamily="49" charset="-122"/>
              </a:rPr>
              <a:t>)</a:t>
            </a:r>
            <a:endParaRPr lang="zh-CN" altLang="en-US" sz="2000" b="1" dirty="0">
              <a:solidFill>
                <a:prstClr val="black"/>
              </a:solidFill>
              <a:latin typeface="新宋体" panose="02010609030101010101" pitchFamily="49" charset="-122"/>
              <a:ea typeface="新宋体" panose="02010609030101010101" pitchFamily="49" charset="-122"/>
            </a:endParaRPr>
          </a:p>
        </p:txBody>
      </p:sp>
      <p:sp>
        <p:nvSpPr>
          <p:cNvPr id="9" name="矩形 8">
            <a:extLst>
              <a:ext uri="{FF2B5EF4-FFF2-40B4-BE49-F238E27FC236}">
                <a16:creationId xmlns:a16="http://schemas.microsoft.com/office/drawing/2014/main" id="{86FA59E6-5563-4D37-894F-BAE4AB54EE9B}"/>
              </a:ext>
            </a:extLst>
          </p:cNvPr>
          <p:cNvSpPr/>
          <p:nvPr/>
        </p:nvSpPr>
        <p:spPr bwMode="auto">
          <a:xfrm>
            <a:off x="4253630" y="4903009"/>
            <a:ext cx="3747370" cy="114109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r>
              <a:rPr lang="en-US" altLang="zh-CN" sz="2000" dirty="0">
                <a:solidFill>
                  <a:prstClr val="black"/>
                </a:solidFill>
                <a:latin typeface="新宋体" panose="02010609030101010101" pitchFamily="49" charset="-122"/>
                <a:ea typeface="新宋体" panose="02010609030101010101" pitchFamily="49" charset="-122"/>
              </a:rPr>
              <a:t>out=[]</a:t>
            </a:r>
          </a:p>
          <a:p>
            <a:r>
              <a:rPr lang="en-US" altLang="zh-CN" sz="2000" dirty="0">
                <a:solidFill>
                  <a:prstClr val="black"/>
                </a:solidFill>
                <a:latin typeface="新宋体" panose="02010609030101010101" pitchFamily="49" charset="-122"/>
                <a:ea typeface="新宋体" panose="02010609030101010101" pitchFamily="49" charset="-122"/>
              </a:rPr>
              <a:t>f</a:t>
            </a:r>
            <a:r>
              <a:rPr lang="en-US" altLang="zh-CN" sz="2000" b="1" dirty="0">
                <a:solidFill>
                  <a:prstClr val="black"/>
                </a:solidFill>
                <a:latin typeface="新宋体" panose="02010609030101010101" pitchFamily="49" charset="-122"/>
                <a:ea typeface="新宋体" panose="02010609030101010101" pitchFamily="49" charset="-122"/>
              </a:rPr>
              <a:t>or t in SC:</a:t>
            </a:r>
          </a:p>
          <a:p>
            <a:r>
              <a:rPr lang="en-US" altLang="zh-CN" sz="2000" dirty="0">
                <a:solidFill>
                  <a:srgbClr val="FF0000"/>
                </a:solidFill>
                <a:latin typeface="新宋体" panose="02010609030101010101" pitchFamily="49" charset="-122"/>
                <a:ea typeface="新宋体" panose="02010609030101010101" pitchFamily="49" charset="-122"/>
              </a:rPr>
              <a:t> </a:t>
            </a:r>
            <a:r>
              <a:rPr lang="en-US" altLang="zh-CN" sz="2000" dirty="0" err="1">
                <a:solidFill>
                  <a:srgbClr val="FF0000"/>
                </a:solidFill>
                <a:latin typeface="新宋体" panose="02010609030101010101" pitchFamily="49" charset="-122"/>
                <a:ea typeface="新宋体" panose="02010609030101010101" pitchFamily="49" charset="-122"/>
              </a:rPr>
              <a:t>out.add</a:t>
            </a:r>
            <a:r>
              <a:rPr lang="en-US" altLang="zh-CN" sz="2000" dirty="0">
                <a:solidFill>
                  <a:prstClr val="black"/>
                </a:solidFill>
                <a:latin typeface="新宋体" panose="02010609030101010101" pitchFamily="49" charset="-122"/>
                <a:ea typeface="新宋体" panose="02010609030101010101" pitchFamily="49" charset="-122"/>
              </a:rPr>
              <a:t>(t)</a:t>
            </a:r>
          </a:p>
          <a:p>
            <a:r>
              <a:rPr lang="en-US" altLang="zh-CN" sz="2000" dirty="0">
                <a:solidFill>
                  <a:prstClr val="black"/>
                </a:solidFill>
                <a:latin typeface="新宋体" panose="02010609030101010101" pitchFamily="49" charset="-122"/>
                <a:ea typeface="新宋体" panose="02010609030101010101" pitchFamily="49" charset="-122"/>
              </a:rPr>
              <a:t> if |</a:t>
            </a:r>
            <a:r>
              <a:rPr lang="en-US" altLang="zh-CN" sz="2000" dirty="0">
                <a:solidFill>
                  <a:srgbClr val="FF0000"/>
                </a:solidFill>
                <a:latin typeface="新宋体" panose="02010609030101010101" pitchFamily="49" charset="-122"/>
                <a:ea typeface="新宋体" panose="02010609030101010101" pitchFamily="49" charset="-122"/>
              </a:rPr>
              <a:t>out</a:t>
            </a:r>
            <a:r>
              <a:rPr lang="en-US" altLang="zh-CN" sz="2000" dirty="0">
                <a:solidFill>
                  <a:prstClr val="black"/>
                </a:solidFill>
                <a:latin typeface="新宋体" panose="02010609030101010101" pitchFamily="49" charset="-122"/>
                <a:ea typeface="新宋体" panose="02010609030101010101" pitchFamily="49" charset="-122"/>
              </a:rPr>
              <a:t>|&gt;=500: </a:t>
            </a:r>
            <a:r>
              <a:rPr lang="en-US" altLang="zh-CN" sz="2000" dirty="0">
                <a:solidFill>
                  <a:srgbClr val="FF0000"/>
                </a:solidFill>
                <a:latin typeface="新宋体" panose="02010609030101010101" pitchFamily="49" charset="-122"/>
                <a:ea typeface="新宋体" panose="02010609030101010101" pitchFamily="49" charset="-122"/>
              </a:rPr>
              <a:t>emit</a:t>
            </a:r>
            <a:r>
              <a:rPr lang="en-US" altLang="zh-CN" sz="2000" dirty="0">
                <a:solidFill>
                  <a:prstClr val="black"/>
                </a:solidFill>
                <a:latin typeface="新宋体" panose="02010609030101010101" pitchFamily="49" charset="-122"/>
                <a:ea typeface="新宋体" panose="02010609030101010101" pitchFamily="49" charset="-122"/>
              </a:rPr>
              <a:t>(</a:t>
            </a:r>
            <a:r>
              <a:rPr lang="en-US" altLang="zh-CN" sz="2000" dirty="0">
                <a:solidFill>
                  <a:srgbClr val="FF0000"/>
                </a:solidFill>
                <a:latin typeface="新宋体" panose="02010609030101010101" pitchFamily="49" charset="-122"/>
                <a:ea typeface="新宋体" panose="02010609030101010101" pitchFamily="49" charset="-122"/>
              </a:rPr>
              <a:t>out</a:t>
            </a:r>
            <a:r>
              <a:rPr lang="en-US" altLang="zh-CN" sz="2000" dirty="0">
                <a:solidFill>
                  <a:prstClr val="black"/>
                </a:solidFill>
                <a:latin typeface="新宋体" panose="02010609030101010101" pitchFamily="49" charset="-122"/>
                <a:ea typeface="新宋体" panose="02010609030101010101" pitchFamily="49" charset="-122"/>
              </a:rPr>
              <a:t>)</a:t>
            </a:r>
            <a:r>
              <a:rPr lang="en-US" altLang="zh-CN" sz="2000" b="1" dirty="0">
                <a:solidFill>
                  <a:prstClr val="black"/>
                </a:solidFill>
                <a:latin typeface="新宋体" panose="02010609030101010101" pitchFamily="49" charset="-122"/>
                <a:ea typeface="新宋体" panose="02010609030101010101" pitchFamily="49" charset="-122"/>
              </a:rPr>
              <a:t> </a:t>
            </a:r>
            <a:endParaRPr lang="zh-CN" altLang="en-US" sz="2000" b="1" dirty="0">
              <a:solidFill>
                <a:prstClr val="black"/>
              </a:solidFill>
              <a:latin typeface="新宋体" panose="02010609030101010101" pitchFamily="49" charset="-122"/>
              <a:ea typeface="新宋体" panose="02010609030101010101" pitchFamily="49" charset="-122"/>
            </a:endParaRPr>
          </a:p>
        </p:txBody>
      </p:sp>
      <p:sp>
        <p:nvSpPr>
          <p:cNvPr id="10" name="矩形 9">
            <a:extLst>
              <a:ext uri="{FF2B5EF4-FFF2-40B4-BE49-F238E27FC236}">
                <a16:creationId xmlns:a16="http://schemas.microsoft.com/office/drawing/2014/main" id="{01B354BD-62CD-4841-82CD-A7EA4EEFF074}"/>
              </a:ext>
            </a:extLst>
          </p:cNvPr>
          <p:cNvSpPr/>
          <p:nvPr/>
        </p:nvSpPr>
        <p:spPr bwMode="auto">
          <a:xfrm>
            <a:off x="457200" y="4871392"/>
            <a:ext cx="3352800" cy="119899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r>
              <a:rPr lang="en-US" altLang="zh-CN" sz="2000" dirty="0">
                <a:solidFill>
                  <a:prstClr val="black"/>
                </a:solidFill>
                <a:latin typeface="新宋体" panose="02010609030101010101" pitchFamily="49" charset="-122"/>
                <a:ea typeface="新宋体" panose="02010609030101010101" pitchFamily="49" charset="-122"/>
              </a:rPr>
              <a:t>out=[]</a:t>
            </a:r>
          </a:p>
          <a:p>
            <a:r>
              <a:rPr lang="en-US" altLang="zh-CN" sz="2000" dirty="0">
                <a:solidFill>
                  <a:prstClr val="black"/>
                </a:solidFill>
                <a:latin typeface="新宋体" panose="02010609030101010101" pitchFamily="49" charset="-122"/>
                <a:ea typeface="新宋体" panose="02010609030101010101" pitchFamily="49" charset="-122"/>
              </a:rPr>
              <a:t>f</a:t>
            </a:r>
            <a:r>
              <a:rPr lang="en-US" altLang="zh-CN" sz="2000" b="1" dirty="0">
                <a:solidFill>
                  <a:prstClr val="black"/>
                </a:solidFill>
                <a:latin typeface="新宋体" panose="02010609030101010101" pitchFamily="49" charset="-122"/>
                <a:ea typeface="新宋体" panose="02010609030101010101" pitchFamily="49" charset="-122"/>
              </a:rPr>
              <a:t>or t in S:</a:t>
            </a:r>
          </a:p>
          <a:p>
            <a:r>
              <a:rPr lang="en-US" altLang="zh-CN" sz="2000" dirty="0">
                <a:solidFill>
                  <a:srgbClr val="FF0000"/>
                </a:solidFill>
                <a:latin typeface="新宋体" panose="02010609030101010101" pitchFamily="49" charset="-122"/>
                <a:ea typeface="新宋体" panose="02010609030101010101" pitchFamily="49" charset="-122"/>
              </a:rPr>
              <a:t> </a:t>
            </a:r>
            <a:r>
              <a:rPr lang="en-US" altLang="zh-CN" sz="2000" dirty="0" err="1">
                <a:solidFill>
                  <a:srgbClr val="FF0000"/>
                </a:solidFill>
                <a:latin typeface="新宋体" panose="02010609030101010101" pitchFamily="49" charset="-122"/>
                <a:ea typeface="新宋体" panose="02010609030101010101" pitchFamily="49" charset="-122"/>
              </a:rPr>
              <a:t>out.add</a:t>
            </a:r>
            <a:r>
              <a:rPr lang="en-US" altLang="zh-CN" sz="2000" dirty="0">
                <a:solidFill>
                  <a:prstClr val="black"/>
                </a:solidFill>
                <a:latin typeface="新宋体" panose="02010609030101010101" pitchFamily="49" charset="-122"/>
                <a:ea typeface="新宋体" panose="02010609030101010101" pitchFamily="49" charset="-122"/>
              </a:rPr>
              <a:t>(t)</a:t>
            </a:r>
          </a:p>
          <a:p>
            <a:r>
              <a:rPr lang="en-US" altLang="zh-CN" sz="2000" dirty="0">
                <a:solidFill>
                  <a:prstClr val="black"/>
                </a:solidFill>
                <a:latin typeface="新宋体" panose="02010609030101010101" pitchFamily="49" charset="-122"/>
                <a:ea typeface="新宋体" panose="02010609030101010101" pitchFamily="49" charset="-122"/>
              </a:rPr>
              <a:t> if |</a:t>
            </a:r>
            <a:r>
              <a:rPr lang="en-US" altLang="zh-CN" sz="2000" dirty="0">
                <a:solidFill>
                  <a:srgbClr val="FF0000"/>
                </a:solidFill>
                <a:latin typeface="新宋体" panose="02010609030101010101" pitchFamily="49" charset="-122"/>
                <a:ea typeface="新宋体" panose="02010609030101010101" pitchFamily="49" charset="-122"/>
              </a:rPr>
              <a:t>out</a:t>
            </a:r>
            <a:r>
              <a:rPr lang="en-US" altLang="zh-CN" sz="2000" dirty="0">
                <a:solidFill>
                  <a:prstClr val="black"/>
                </a:solidFill>
                <a:latin typeface="新宋体" panose="02010609030101010101" pitchFamily="49" charset="-122"/>
                <a:ea typeface="新宋体" panose="02010609030101010101" pitchFamily="49" charset="-122"/>
              </a:rPr>
              <a:t>|&gt;=500: </a:t>
            </a:r>
            <a:r>
              <a:rPr lang="en-US" altLang="zh-CN" sz="2000" dirty="0">
                <a:solidFill>
                  <a:srgbClr val="FF0000"/>
                </a:solidFill>
                <a:latin typeface="新宋体" panose="02010609030101010101" pitchFamily="49" charset="-122"/>
                <a:ea typeface="新宋体" panose="02010609030101010101" pitchFamily="49" charset="-122"/>
              </a:rPr>
              <a:t>emit</a:t>
            </a:r>
            <a:r>
              <a:rPr lang="en-US" altLang="zh-CN" sz="2000" dirty="0">
                <a:solidFill>
                  <a:prstClr val="black"/>
                </a:solidFill>
                <a:latin typeface="新宋体" panose="02010609030101010101" pitchFamily="49" charset="-122"/>
                <a:ea typeface="新宋体" panose="02010609030101010101" pitchFamily="49" charset="-122"/>
              </a:rPr>
              <a:t>(</a:t>
            </a:r>
            <a:r>
              <a:rPr lang="en-US" altLang="zh-CN" sz="2000" dirty="0">
                <a:solidFill>
                  <a:srgbClr val="FF0000"/>
                </a:solidFill>
                <a:latin typeface="新宋体" panose="02010609030101010101" pitchFamily="49" charset="-122"/>
                <a:ea typeface="新宋体" panose="02010609030101010101" pitchFamily="49" charset="-122"/>
              </a:rPr>
              <a:t>out</a:t>
            </a:r>
            <a:r>
              <a:rPr lang="en-US" altLang="zh-CN" sz="2000" dirty="0">
                <a:solidFill>
                  <a:prstClr val="black"/>
                </a:solidFill>
                <a:latin typeface="新宋体" panose="02010609030101010101" pitchFamily="49" charset="-122"/>
                <a:ea typeface="新宋体" panose="02010609030101010101" pitchFamily="49" charset="-122"/>
              </a:rPr>
              <a:t>)</a:t>
            </a:r>
            <a:r>
              <a:rPr lang="en-US" altLang="zh-CN" sz="2000" b="1" dirty="0">
                <a:solidFill>
                  <a:prstClr val="black"/>
                </a:solidFill>
                <a:latin typeface="新宋体" panose="02010609030101010101" pitchFamily="49" charset="-122"/>
                <a:ea typeface="新宋体" panose="02010609030101010101" pitchFamily="49" charset="-122"/>
              </a:rPr>
              <a:t> </a:t>
            </a:r>
            <a:endParaRPr lang="zh-CN" altLang="en-US" sz="2000" b="1" dirty="0">
              <a:solidFill>
                <a:prstClr val="black"/>
              </a:solidFill>
              <a:latin typeface="新宋体" panose="02010609030101010101" pitchFamily="49" charset="-122"/>
              <a:ea typeface="新宋体" panose="02010609030101010101" pitchFamily="49" charset="-122"/>
            </a:endParaRPr>
          </a:p>
        </p:txBody>
      </p:sp>
      <p:cxnSp>
        <p:nvCxnSpPr>
          <p:cNvPr id="12" name="直接箭头连接符 11"/>
          <p:cNvCxnSpPr/>
          <p:nvPr/>
        </p:nvCxnSpPr>
        <p:spPr>
          <a:xfrm flipH="1">
            <a:off x="1219200" y="3524967"/>
            <a:ext cx="381000" cy="1242568"/>
          </a:xfrm>
          <a:prstGeom prst="straightConnector1">
            <a:avLst/>
          </a:prstGeom>
          <a:ln w="38100">
            <a:solidFill>
              <a:srgbClr val="FF0000"/>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3959838" y="3429000"/>
            <a:ext cx="457200" cy="1338535"/>
          </a:xfrm>
          <a:prstGeom prst="straightConnector1">
            <a:avLst/>
          </a:prstGeom>
          <a:ln w="38100">
            <a:solidFill>
              <a:srgbClr val="FF0000"/>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2971800" y="2517548"/>
            <a:ext cx="1595076" cy="606652"/>
          </a:xfrm>
          <a:prstGeom prst="straightConnector1">
            <a:avLst/>
          </a:prstGeom>
          <a:ln w="38100">
            <a:solidFill>
              <a:srgbClr val="FF0000"/>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3505200" y="1524000"/>
            <a:ext cx="743306" cy="0"/>
          </a:xfrm>
          <a:prstGeom prst="straightConnector1">
            <a:avLst/>
          </a:prstGeom>
          <a:ln w="38100">
            <a:solidFill>
              <a:srgbClr val="FF0000"/>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457200" y="6264275"/>
            <a:ext cx="3647152" cy="369332"/>
          </a:xfrm>
          <a:prstGeom prst="rect">
            <a:avLst/>
          </a:prstGeom>
          <a:noFill/>
        </p:spPr>
        <p:txBody>
          <a:bodyPr wrap="none" rtlCol="0">
            <a:spAutoFit/>
          </a:bodyPr>
          <a:lstStyle/>
          <a:p>
            <a:r>
              <a:rPr lang="zh-CN" altLang="en-US" dirty="0">
                <a:solidFill>
                  <a:srgbClr val="0000FF"/>
                </a:solidFill>
              </a:rPr>
              <a:t>注：虚线不属于语法树结构的内容</a:t>
            </a:r>
          </a:p>
        </p:txBody>
      </p:sp>
    </p:spTree>
    <p:extLst>
      <p:ext uri="{BB962C8B-B14F-4D97-AF65-F5344CB8AC3E}">
        <p14:creationId xmlns:p14="http://schemas.microsoft.com/office/powerpoint/2010/main" val="74636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64FC1A-D8DE-4181-BB74-495365E165D8}"/>
              </a:ext>
            </a:extLst>
          </p:cNvPr>
          <p:cNvSpPr>
            <a:spLocks noGrp="1"/>
          </p:cNvSpPr>
          <p:nvPr>
            <p:ph type="title"/>
          </p:nvPr>
        </p:nvSpPr>
        <p:spPr>
          <a:xfrm>
            <a:off x="457200" y="76200"/>
            <a:ext cx="8229600" cy="715962"/>
          </a:xfrm>
        </p:spPr>
        <p:txBody>
          <a:bodyPr/>
          <a:lstStyle/>
          <a:p>
            <a:pPr algn="l"/>
            <a:r>
              <a:rPr lang="zh-CN" altLang="en-US" dirty="0"/>
              <a:t>第</a:t>
            </a:r>
            <a:r>
              <a:rPr lang="en-US" altLang="zh-CN" dirty="0"/>
              <a:t>8</a:t>
            </a:r>
            <a:r>
              <a:rPr lang="zh-CN" altLang="en-US" dirty="0"/>
              <a:t>章 </a:t>
            </a:r>
          </a:p>
        </p:txBody>
      </p:sp>
      <p:sp>
        <p:nvSpPr>
          <p:cNvPr id="3" name="内容占位符 2">
            <a:extLst>
              <a:ext uri="{FF2B5EF4-FFF2-40B4-BE49-F238E27FC236}">
                <a16:creationId xmlns:a16="http://schemas.microsoft.com/office/drawing/2014/main" id="{864A12B6-DE79-4A80-B9EB-A69D01FC7493}"/>
              </a:ext>
            </a:extLst>
          </p:cNvPr>
          <p:cNvSpPr>
            <a:spLocks noGrp="1"/>
          </p:cNvSpPr>
          <p:nvPr>
            <p:ph idx="1"/>
          </p:nvPr>
        </p:nvSpPr>
        <p:spPr>
          <a:xfrm>
            <a:off x="533400" y="792162"/>
            <a:ext cx="8229600" cy="1722437"/>
          </a:xfrm>
        </p:spPr>
        <p:txBody>
          <a:bodyPr/>
          <a:lstStyle/>
          <a:p>
            <a:pPr marL="0" indent="0">
              <a:buNone/>
            </a:pPr>
            <a:r>
              <a:rPr lang="en-US" altLang="zh-CN" sz="2400" dirty="0"/>
              <a:t>5. </a:t>
            </a:r>
            <a:r>
              <a:rPr lang="zh-CN" altLang="zh-CN" sz="2400" dirty="0"/>
              <a:t>画出</a:t>
            </a:r>
            <a:r>
              <a:rPr lang="en-US" altLang="zh-CN" sz="2400" dirty="0"/>
              <a:t>DBMS</a:t>
            </a:r>
            <a:r>
              <a:rPr lang="zh-CN" altLang="zh-CN" sz="2400" dirty="0"/>
              <a:t>缓冲池的结构示意图，并结合缓冲池的内部结构说明一般情况下执行引擎访问数据页面过程。说明其中什么情况下执行引擎读数据页面会触发磁盘页面的写操作？</a:t>
            </a:r>
            <a:endParaRPr lang="en-US" altLang="zh-CN" sz="2400" dirty="0"/>
          </a:p>
          <a:p>
            <a:pPr marL="0" indent="0">
              <a:buNone/>
            </a:pPr>
            <a:r>
              <a:rPr lang="zh-CN" altLang="en-US" sz="2400" dirty="0"/>
              <a:t>答：</a:t>
            </a:r>
            <a:endParaRPr lang="en-US" altLang="zh-CN" sz="2400" dirty="0"/>
          </a:p>
          <a:p>
            <a:pPr marL="0" indent="0">
              <a:buNone/>
            </a:pPr>
            <a:endParaRPr lang="zh-CN" altLang="en-US" sz="2400" dirty="0"/>
          </a:p>
        </p:txBody>
      </p:sp>
      <p:sp>
        <p:nvSpPr>
          <p:cNvPr id="4" name="灯片编号占位符 3">
            <a:extLst>
              <a:ext uri="{FF2B5EF4-FFF2-40B4-BE49-F238E27FC236}">
                <a16:creationId xmlns:a16="http://schemas.microsoft.com/office/drawing/2014/main" id="{8FC94906-B567-4C0A-A83C-46DE68A367CB}"/>
              </a:ext>
            </a:extLst>
          </p:cNvPr>
          <p:cNvSpPr>
            <a:spLocks noGrp="1"/>
          </p:cNvSpPr>
          <p:nvPr>
            <p:ph type="sldNum" sz="quarter" idx="12"/>
          </p:nvPr>
        </p:nvSpPr>
        <p:spPr/>
        <p:txBody>
          <a:bodyPr/>
          <a:lstStyle/>
          <a:p>
            <a:fld id="{2F94A800-DD10-4586-96F6-8816652E7436}" type="slidenum">
              <a:rPr lang="en-US" altLang="zh-CN" smtClean="0"/>
              <a:pPr/>
              <a:t>10</a:t>
            </a:fld>
            <a:endParaRPr lang="en-US" altLang="zh-CN"/>
          </a:p>
        </p:txBody>
      </p:sp>
      <p:pic>
        <p:nvPicPr>
          <p:cNvPr id="6" name="图片 5">
            <a:extLst>
              <a:ext uri="{FF2B5EF4-FFF2-40B4-BE49-F238E27FC236}">
                <a16:creationId xmlns:a16="http://schemas.microsoft.com/office/drawing/2014/main" id="{0B80CA3D-1B29-4EAC-BF20-A4A73F2FA1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981200"/>
            <a:ext cx="5410200" cy="4581540"/>
          </a:xfrm>
          <a:prstGeom prst="rect">
            <a:avLst/>
          </a:prstGeom>
        </p:spPr>
      </p:pic>
    </p:spTree>
    <p:extLst>
      <p:ext uri="{BB962C8B-B14F-4D97-AF65-F5344CB8AC3E}">
        <p14:creationId xmlns:p14="http://schemas.microsoft.com/office/powerpoint/2010/main" val="2419467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64FC1A-D8DE-4181-BB74-495365E165D8}"/>
              </a:ext>
            </a:extLst>
          </p:cNvPr>
          <p:cNvSpPr>
            <a:spLocks noGrp="1"/>
          </p:cNvSpPr>
          <p:nvPr>
            <p:ph type="title"/>
          </p:nvPr>
        </p:nvSpPr>
        <p:spPr>
          <a:xfrm>
            <a:off x="457200" y="76200"/>
            <a:ext cx="8229600" cy="715962"/>
          </a:xfrm>
        </p:spPr>
        <p:txBody>
          <a:bodyPr/>
          <a:lstStyle/>
          <a:p>
            <a:pPr algn="l"/>
            <a:r>
              <a:rPr lang="zh-CN" altLang="en-US" dirty="0"/>
              <a:t>第</a:t>
            </a:r>
            <a:r>
              <a:rPr lang="en-US" altLang="zh-CN" dirty="0"/>
              <a:t>8</a:t>
            </a:r>
            <a:r>
              <a:rPr lang="zh-CN" altLang="en-US" dirty="0"/>
              <a:t>章 </a:t>
            </a:r>
          </a:p>
        </p:txBody>
      </p:sp>
      <p:sp>
        <p:nvSpPr>
          <p:cNvPr id="3" name="内容占位符 2">
            <a:extLst>
              <a:ext uri="{FF2B5EF4-FFF2-40B4-BE49-F238E27FC236}">
                <a16:creationId xmlns:a16="http://schemas.microsoft.com/office/drawing/2014/main" id="{864A12B6-DE79-4A80-B9EB-A69D01FC7493}"/>
              </a:ext>
            </a:extLst>
          </p:cNvPr>
          <p:cNvSpPr>
            <a:spLocks noGrp="1"/>
          </p:cNvSpPr>
          <p:nvPr>
            <p:ph idx="1"/>
          </p:nvPr>
        </p:nvSpPr>
        <p:spPr>
          <a:xfrm>
            <a:off x="533400" y="792162"/>
            <a:ext cx="8229600" cy="5684838"/>
          </a:xfrm>
        </p:spPr>
        <p:txBody>
          <a:bodyPr/>
          <a:lstStyle/>
          <a:p>
            <a:pPr marL="0" indent="0">
              <a:buNone/>
            </a:pPr>
            <a:r>
              <a:rPr lang="en-US" altLang="zh-CN" sz="2400" dirty="0"/>
              <a:t>5</a:t>
            </a:r>
            <a:r>
              <a:rPr lang="zh-CN" altLang="en-US" sz="2400" dirty="0"/>
              <a:t>答：访问过程：（</a:t>
            </a:r>
            <a:r>
              <a:rPr lang="en-US" altLang="zh-CN" sz="2400" dirty="0"/>
              <a:t>1</a:t>
            </a:r>
            <a:r>
              <a:rPr lang="zh-CN" altLang="en-US" sz="2400" dirty="0"/>
              <a:t>）执行引擎向缓冲池管理器发出某个页面</a:t>
            </a:r>
            <a:r>
              <a:rPr lang="en-US" altLang="zh-CN" sz="2400" dirty="0"/>
              <a:t>p</a:t>
            </a:r>
            <a:r>
              <a:rPr lang="zh-CN" altLang="en-US" sz="2400" dirty="0"/>
              <a:t>的访问请求；</a:t>
            </a:r>
            <a:endParaRPr lang="en-US" altLang="zh-CN" sz="2400" dirty="0"/>
          </a:p>
          <a:p>
            <a:pPr marL="0" indent="0">
              <a:buNone/>
            </a:pPr>
            <a:r>
              <a:rPr lang="zh-CN" altLang="en-US" sz="2400" dirty="0"/>
              <a:t>（</a:t>
            </a:r>
            <a:r>
              <a:rPr lang="en-US" altLang="zh-CN" sz="2400" dirty="0"/>
              <a:t>2</a:t>
            </a:r>
            <a:r>
              <a:rPr lang="zh-CN" altLang="en-US" sz="2400" dirty="0"/>
              <a:t>）缓冲池管理器查找页表判断</a:t>
            </a:r>
            <a:r>
              <a:rPr lang="zh-CN" altLang="en-US" sz="2400" dirty="0">
                <a:solidFill>
                  <a:srgbClr val="FF0000"/>
                </a:solidFill>
              </a:rPr>
              <a:t>若</a:t>
            </a:r>
            <a:r>
              <a:rPr lang="en-US" altLang="zh-CN" sz="2400" dirty="0">
                <a:solidFill>
                  <a:srgbClr val="FF0000"/>
                </a:solidFill>
              </a:rPr>
              <a:t>p</a:t>
            </a:r>
            <a:r>
              <a:rPr lang="zh-CN" altLang="en-US" sz="2400" dirty="0">
                <a:solidFill>
                  <a:srgbClr val="FF0000"/>
                </a:solidFill>
              </a:rPr>
              <a:t>在其中</a:t>
            </a:r>
            <a:r>
              <a:rPr lang="zh-CN" altLang="en-US" sz="2400" dirty="0"/>
              <a:t>，则增加页表中</a:t>
            </a:r>
            <a:r>
              <a:rPr lang="en-US" altLang="zh-CN" sz="2400" dirty="0"/>
              <a:t>p</a:t>
            </a:r>
            <a:r>
              <a:rPr lang="zh-CN" altLang="en-US" sz="2400" dirty="0"/>
              <a:t>的引用计数，依据页表中记录的</a:t>
            </a:r>
            <a:r>
              <a:rPr lang="en-US" altLang="zh-CN" sz="2400" dirty="0"/>
              <a:t>p</a:t>
            </a:r>
            <a:r>
              <a:rPr lang="zh-CN" altLang="en-US" sz="2400" dirty="0"/>
              <a:t>在帧数组的位置访问</a:t>
            </a:r>
            <a:r>
              <a:rPr lang="en-US" altLang="zh-CN" sz="2400" dirty="0"/>
              <a:t>p</a:t>
            </a:r>
            <a:r>
              <a:rPr lang="zh-CN" altLang="en-US" sz="2400" dirty="0"/>
              <a:t>，访问对应的事务不再需要页面</a:t>
            </a:r>
            <a:r>
              <a:rPr lang="en-US" altLang="zh-CN" sz="2400" dirty="0"/>
              <a:t>p</a:t>
            </a:r>
            <a:r>
              <a:rPr lang="zh-CN" altLang="en-US" sz="2400" dirty="0"/>
              <a:t>后，减少</a:t>
            </a:r>
            <a:r>
              <a:rPr lang="en-US" altLang="zh-CN" sz="2400" dirty="0"/>
              <a:t>p</a:t>
            </a:r>
            <a:r>
              <a:rPr lang="zh-CN" altLang="en-US" sz="2400" dirty="0"/>
              <a:t>的引用计数；</a:t>
            </a:r>
            <a:endParaRPr lang="en-US" altLang="zh-CN" sz="2400" dirty="0"/>
          </a:p>
          <a:p>
            <a:pPr marL="0" indent="0">
              <a:buNone/>
            </a:pPr>
            <a:r>
              <a:rPr lang="zh-CN" altLang="en-US" sz="2400" dirty="0"/>
              <a:t>（</a:t>
            </a:r>
            <a:r>
              <a:rPr lang="en-US" altLang="zh-CN" sz="2400" dirty="0"/>
              <a:t>3</a:t>
            </a:r>
            <a:r>
              <a:rPr lang="zh-CN" altLang="en-US" sz="2400" dirty="0"/>
              <a:t>）若缓冲池管理器发现</a:t>
            </a:r>
            <a:r>
              <a:rPr lang="en-US" altLang="zh-CN" sz="2400" dirty="0">
                <a:solidFill>
                  <a:srgbClr val="FF0000"/>
                </a:solidFill>
              </a:rPr>
              <a:t>p</a:t>
            </a:r>
            <a:r>
              <a:rPr lang="zh-CN" altLang="en-US" sz="2400" dirty="0">
                <a:solidFill>
                  <a:srgbClr val="FF0000"/>
                </a:solidFill>
              </a:rPr>
              <a:t>不在页表中</a:t>
            </a:r>
            <a:r>
              <a:rPr lang="zh-CN" altLang="en-US" sz="2400" dirty="0"/>
              <a:t>，则将</a:t>
            </a:r>
            <a:r>
              <a:rPr lang="en-US" altLang="zh-CN" sz="2400" dirty="0"/>
              <a:t>p</a:t>
            </a:r>
            <a:r>
              <a:rPr lang="zh-CN" altLang="en-US" sz="2400" dirty="0"/>
              <a:t>加入页表，然后考虑将页面</a:t>
            </a:r>
            <a:r>
              <a:rPr lang="en-US" altLang="zh-CN" sz="2400" dirty="0"/>
              <a:t>p</a:t>
            </a:r>
            <a:r>
              <a:rPr lang="zh-CN" altLang="en-US" sz="2400" dirty="0"/>
              <a:t>（数据块</a:t>
            </a:r>
            <a:r>
              <a:rPr lang="en-US" altLang="zh-CN" sz="2400" dirty="0"/>
              <a:t>p</a:t>
            </a:r>
            <a:r>
              <a:rPr lang="zh-CN" altLang="en-US" sz="2400" dirty="0"/>
              <a:t>）从数据文件中读入缓冲池的帧数组。此时</a:t>
            </a:r>
            <a:r>
              <a:rPr lang="zh-CN" altLang="en-US" sz="2400" dirty="0">
                <a:solidFill>
                  <a:srgbClr val="FF0000"/>
                </a:solidFill>
              </a:rPr>
              <a:t>若帧数组有空闲空间</a:t>
            </a:r>
            <a:r>
              <a:rPr lang="zh-CN" altLang="en-US" sz="2400" dirty="0"/>
              <a:t>则直接读入</a:t>
            </a:r>
            <a:r>
              <a:rPr lang="en-US" altLang="zh-CN" sz="2400" dirty="0"/>
              <a:t>p</a:t>
            </a:r>
            <a:r>
              <a:rPr lang="zh-CN" altLang="en-US" sz="2400" dirty="0"/>
              <a:t>到某个空闲帧；</a:t>
            </a:r>
            <a:r>
              <a:rPr lang="zh-CN" altLang="en-US" sz="2400" dirty="0">
                <a:solidFill>
                  <a:srgbClr val="FF0000"/>
                </a:solidFill>
              </a:rPr>
              <a:t>若帧数组已满</a:t>
            </a:r>
            <a:r>
              <a:rPr lang="zh-CN" altLang="en-US" sz="2400" dirty="0"/>
              <a:t>，则采用</a:t>
            </a:r>
            <a:r>
              <a:rPr lang="zh-CN" altLang="en-US" sz="2400" dirty="0">
                <a:solidFill>
                  <a:srgbClr val="FF0000"/>
                </a:solidFill>
              </a:rPr>
              <a:t>缓存替换</a:t>
            </a:r>
            <a:r>
              <a:rPr lang="zh-CN" altLang="en-US" sz="2400" dirty="0"/>
              <a:t>策略选择某个引用计数为</a:t>
            </a:r>
            <a:r>
              <a:rPr lang="en-US" altLang="zh-CN" sz="2400" dirty="0"/>
              <a:t>0</a:t>
            </a:r>
            <a:r>
              <a:rPr lang="zh-CN" altLang="en-US" sz="2400" dirty="0"/>
              <a:t>的帧页面替换。</a:t>
            </a:r>
            <a:r>
              <a:rPr lang="zh-CN" altLang="en-US" sz="2400" dirty="0">
                <a:solidFill>
                  <a:srgbClr val="FF0000"/>
                </a:solidFill>
              </a:rPr>
              <a:t>若被替换页的脏标记显示其为脏页</a:t>
            </a:r>
            <a:r>
              <a:rPr lang="zh-CN" altLang="en-US" sz="2400" dirty="0"/>
              <a:t>，则结合先写日志协议完成被替换页的写出到数据文件的操作。</a:t>
            </a:r>
            <a:endParaRPr lang="en-US" altLang="zh-CN" sz="2400" dirty="0"/>
          </a:p>
          <a:p>
            <a:pPr marL="0" indent="0">
              <a:buNone/>
            </a:pPr>
            <a:endParaRPr lang="en-US" altLang="zh-CN" sz="2400" dirty="0"/>
          </a:p>
          <a:p>
            <a:pPr marL="0" indent="0">
              <a:buNone/>
            </a:pPr>
            <a:r>
              <a:rPr lang="zh-CN" altLang="en-US" sz="2400" dirty="0"/>
              <a:t>当执行引擎要读取的页需要新进入帧数组而导致其中的</a:t>
            </a:r>
            <a:r>
              <a:rPr lang="zh-CN" altLang="en-US" sz="2400" dirty="0">
                <a:solidFill>
                  <a:srgbClr val="FF0000"/>
                </a:solidFill>
              </a:rPr>
              <a:t>某个脏页要被替换出缓冲池时</a:t>
            </a:r>
            <a:r>
              <a:rPr lang="zh-CN" altLang="en-US" sz="2400" dirty="0"/>
              <a:t>，会触发写操作。</a:t>
            </a:r>
          </a:p>
        </p:txBody>
      </p:sp>
      <p:sp>
        <p:nvSpPr>
          <p:cNvPr id="4" name="灯片编号占位符 3">
            <a:extLst>
              <a:ext uri="{FF2B5EF4-FFF2-40B4-BE49-F238E27FC236}">
                <a16:creationId xmlns:a16="http://schemas.microsoft.com/office/drawing/2014/main" id="{8FC94906-B567-4C0A-A83C-46DE68A367CB}"/>
              </a:ext>
            </a:extLst>
          </p:cNvPr>
          <p:cNvSpPr>
            <a:spLocks noGrp="1"/>
          </p:cNvSpPr>
          <p:nvPr>
            <p:ph type="sldNum" sz="quarter" idx="12"/>
          </p:nvPr>
        </p:nvSpPr>
        <p:spPr/>
        <p:txBody>
          <a:bodyPr/>
          <a:lstStyle/>
          <a:p>
            <a:fld id="{2F94A800-DD10-4586-96F6-8816652E7436}" type="slidenum">
              <a:rPr lang="en-US" altLang="zh-CN" smtClean="0"/>
              <a:pPr/>
              <a:t>11</a:t>
            </a:fld>
            <a:endParaRPr lang="en-US" altLang="zh-CN"/>
          </a:p>
        </p:txBody>
      </p:sp>
    </p:spTree>
    <p:extLst>
      <p:ext uri="{BB962C8B-B14F-4D97-AF65-F5344CB8AC3E}">
        <p14:creationId xmlns:p14="http://schemas.microsoft.com/office/powerpoint/2010/main" val="1395666882"/>
      </p:ext>
    </p:extLst>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574</TotalTime>
  <Words>990</Words>
  <Application>Microsoft Office PowerPoint</Application>
  <PresentationFormat>全屏显示(4:3)</PresentationFormat>
  <Paragraphs>82</Paragraphs>
  <Slides>11</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11</vt:i4>
      </vt:variant>
    </vt:vector>
  </HeadingPairs>
  <TitlesOfParts>
    <vt:vector size="17" baseType="lpstr">
      <vt:lpstr>Arial Unicode MS</vt:lpstr>
      <vt:lpstr>黑体</vt:lpstr>
      <vt:lpstr>宋体</vt:lpstr>
      <vt:lpstr>新宋体</vt:lpstr>
      <vt:lpstr>Arial</vt:lpstr>
      <vt:lpstr>默认设计模板</vt:lpstr>
      <vt:lpstr>第8章 </vt:lpstr>
      <vt:lpstr>第8章 </vt:lpstr>
      <vt:lpstr>第8章 </vt:lpstr>
      <vt:lpstr>第8章 </vt:lpstr>
      <vt:lpstr>第8章 </vt:lpstr>
      <vt:lpstr>第8章 </vt:lpstr>
      <vt:lpstr>第8章 </vt:lpstr>
      <vt:lpstr>第8章 </vt:lpstr>
      <vt:lpstr>第8章 </vt:lpstr>
      <vt:lpstr>第8章 </vt:lpstr>
      <vt:lpstr>第8章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teacher</cp:lastModifiedBy>
  <cp:revision>100</cp:revision>
  <cp:lastPrinted>1601-01-01T00:00:00Z</cp:lastPrinted>
  <dcterms:created xsi:type="dcterms:W3CDTF">1601-01-01T00:00:00Z</dcterms:created>
  <dcterms:modified xsi:type="dcterms:W3CDTF">2025-05-18T05:08:27Z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